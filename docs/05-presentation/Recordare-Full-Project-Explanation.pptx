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  <p:sldId id="475" r:id="rId226"/>
    <p:sldId id="476" r:id="rId227"/>
    <p:sldId id="477" r:id="rId228"/>
    <p:sldId id="478" r:id="rId229"/>
    <p:sldId id="479" r:id="rId230"/>
    <p:sldId id="480" r:id="rId231"/>
    <p:sldId id="481" r:id="rId232"/>
    <p:sldId id="482" r:id="rId233"/>
    <p:sldId id="483" r:id="rId234"/>
    <p:sldId id="484" r:id="rId235"/>
    <p:sldId id="485" r:id="rId236"/>
    <p:sldId id="486" r:id="rId237"/>
    <p:sldId id="487" r:id="rId238"/>
    <p:sldId id="488" r:id="rId239"/>
    <p:sldId id="489" r:id="rId240"/>
    <p:sldId id="490" r:id="rId241"/>
    <p:sldId id="491" r:id="rId242"/>
    <p:sldId id="492" r:id="rId243"/>
    <p:sldId id="493" r:id="rId244"/>
    <p:sldId id="494" r:id="rId245"/>
    <p:sldId id="495" r:id="rId246"/>
    <p:sldId id="496" r:id="rId247"/>
    <p:sldId id="497" r:id="rId248"/>
    <p:sldId id="498" r:id="rId249"/>
    <p:sldId id="499" r:id="rId250"/>
    <p:sldId id="500" r:id="rId251"/>
    <p:sldId id="501" r:id="rId252"/>
    <p:sldId id="502" r:id="rId253"/>
    <p:sldId id="503" r:id="rId254"/>
    <p:sldId id="504" r:id="rId255"/>
    <p:sldId id="505" r:id="rId256"/>
    <p:sldId id="506" r:id="rId257"/>
    <p:sldId id="507" r:id="rId258"/>
    <p:sldId id="508" r:id="rId259"/>
    <p:sldId id="509" r:id="rId260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Relationship Id="rId224" Type="http://schemas.openxmlformats.org/officeDocument/2006/relationships/slide" Target="slides/slide218.xml"/><Relationship Id="rId225" Type="http://schemas.openxmlformats.org/officeDocument/2006/relationships/slide" Target="slides/slide219.xml"/><Relationship Id="rId226" Type="http://schemas.openxmlformats.org/officeDocument/2006/relationships/slide" Target="slides/slide220.xml"/><Relationship Id="rId227" Type="http://schemas.openxmlformats.org/officeDocument/2006/relationships/slide" Target="slides/slide221.xml"/><Relationship Id="rId228" Type="http://schemas.openxmlformats.org/officeDocument/2006/relationships/slide" Target="slides/slide222.xml"/><Relationship Id="rId229" Type="http://schemas.openxmlformats.org/officeDocument/2006/relationships/slide" Target="slides/slide223.xml"/><Relationship Id="rId230" Type="http://schemas.openxmlformats.org/officeDocument/2006/relationships/slide" Target="slides/slide224.xml"/><Relationship Id="rId231" Type="http://schemas.openxmlformats.org/officeDocument/2006/relationships/slide" Target="slides/slide225.xml"/><Relationship Id="rId232" Type="http://schemas.openxmlformats.org/officeDocument/2006/relationships/slide" Target="slides/slide226.xml"/><Relationship Id="rId233" Type="http://schemas.openxmlformats.org/officeDocument/2006/relationships/slide" Target="slides/slide227.xml"/><Relationship Id="rId234" Type="http://schemas.openxmlformats.org/officeDocument/2006/relationships/slide" Target="slides/slide228.xml"/><Relationship Id="rId235" Type="http://schemas.openxmlformats.org/officeDocument/2006/relationships/slide" Target="slides/slide229.xml"/><Relationship Id="rId236" Type="http://schemas.openxmlformats.org/officeDocument/2006/relationships/slide" Target="slides/slide230.xml"/><Relationship Id="rId237" Type="http://schemas.openxmlformats.org/officeDocument/2006/relationships/slide" Target="slides/slide231.xml"/><Relationship Id="rId238" Type="http://schemas.openxmlformats.org/officeDocument/2006/relationships/slide" Target="slides/slide232.xml"/><Relationship Id="rId239" Type="http://schemas.openxmlformats.org/officeDocument/2006/relationships/slide" Target="slides/slide233.xml"/><Relationship Id="rId240" Type="http://schemas.openxmlformats.org/officeDocument/2006/relationships/slide" Target="slides/slide234.xml"/><Relationship Id="rId241" Type="http://schemas.openxmlformats.org/officeDocument/2006/relationships/slide" Target="slides/slide235.xml"/><Relationship Id="rId242" Type="http://schemas.openxmlformats.org/officeDocument/2006/relationships/slide" Target="slides/slide236.xml"/><Relationship Id="rId243" Type="http://schemas.openxmlformats.org/officeDocument/2006/relationships/slide" Target="slides/slide237.xml"/><Relationship Id="rId244" Type="http://schemas.openxmlformats.org/officeDocument/2006/relationships/slide" Target="slides/slide238.xml"/><Relationship Id="rId245" Type="http://schemas.openxmlformats.org/officeDocument/2006/relationships/slide" Target="slides/slide239.xml"/><Relationship Id="rId246" Type="http://schemas.openxmlformats.org/officeDocument/2006/relationships/slide" Target="slides/slide240.xml"/><Relationship Id="rId247" Type="http://schemas.openxmlformats.org/officeDocument/2006/relationships/slide" Target="slides/slide241.xml"/><Relationship Id="rId248" Type="http://schemas.openxmlformats.org/officeDocument/2006/relationships/slide" Target="slides/slide242.xml"/><Relationship Id="rId249" Type="http://schemas.openxmlformats.org/officeDocument/2006/relationships/slide" Target="slides/slide243.xml"/><Relationship Id="rId250" Type="http://schemas.openxmlformats.org/officeDocument/2006/relationships/slide" Target="slides/slide244.xml"/><Relationship Id="rId251" Type="http://schemas.openxmlformats.org/officeDocument/2006/relationships/slide" Target="slides/slide245.xml"/><Relationship Id="rId252" Type="http://schemas.openxmlformats.org/officeDocument/2006/relationships/slide" Target="slides/slide246.xml"/><Relationship Id="rId253" Type="http://schemas.openxmlformats.org/officeDocument/2006/relationships/slide" Target="slides/slide247.xml"/><Relationship Id="rId254" Type="http://schemas.openxmlformats.org/officeDocument/2006/relationships/slide" Target="slides/slide248.xml"/><Relationship Id="rId255" Type="http://schemas.openxmlformats.org/officeDocument/2006/relationships/slide" Target="slides/slide249.xml"/><Relationship Id="rId256" Type="http://schemas.openxmlformats.org/officeDocument/2006/relationships/slide" Target="slides/slide250.xml"/><Relationship Id="rId257" Type="http://schemas.openxmlformats.org/officeDocument/2006/relationships/slide" Target="slides/slide251.xml"/><Relationship Id="rId258" Type="http://schemas.openxmlformats.org/officeDocument/2006/relationships/slide" Target="slides/slide252.xml"/><Relationship Id="rId259" Type="http://schemas.openxmlformats.org/officeDocument/2006/relationships/slide" Target="slides/slide253.xml"/><Relationship Id="rId260" Type="http://schemas.openxmlformats.org/officeDocument/2006/relationships/slide" Target="slides/slide25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5F0E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680000" cy="6858000"/>
          </a:xfrm>
          <a:prstGeom prst="rect">
            <a:avLst/>
          </a:prstGeom>
          <a:solidFill>
            <a:srgbClr val="1B4D3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0" y="0"/>
            <a:ext cx="108000" cy="6858000"/>
          </a:xfrm>
          <a:prstGeom prst="rect">
            <a:avLst/>
          </a:prstGeom>
          <a:solidFill>
            <a:srgbClr val="E07A5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Recordare 프로젝트 설명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990000"/>
            <a:ext cx="11472119" cy="3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algun Gothic"/>
              </a:rPr>
              <a:t>최신 문서 기반 상세 발표자료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" y="4356000"/>
            <a:ext cx="10080000" cy="72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FFFFFF"/>
                </a:solidFill>
                <a:latin typeface="Malgun Gothic"/>
              </a:rPr>
              <a:t>Recordare · 레코다레 · 최신 문서 기반 상세 발표자료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Cover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01 / 254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소개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02 / 254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오늘의 발표 흐름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990000"/>
            <a:ext cx="11472119" cy="3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algun Gothic"/>
              </a:rPr>
              <a:t>핵심 내용과 문서 기반 구성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1980000"/>
            <a:ext cx="1080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60000"/>
              </a:lnSpc>
            </a:pPr>
            <a:r>
              <a:rPr sz="1400" b="0">
                <a:solidFill>
                  <a:srgbClr val="2D2D2D"/>
                </a:solidFill>
                <a:latin typeface="Malgun Gothic"/>
              </a:rPr>
              <a:t>1. PRD v2.4
2. 브랜드 아이덴티티
3. 워크플로우 정의
4. UX 구조
5. 생애주기 &amp; 법적 근거
6. 로고 컨셉
7. BI 제안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1B4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6000" cy="6858000"/>
          </a:xfrm>
          <a:prstGeom prst="rect">
            <a:avLst/>
          </a:prstGeom>
          <a:solidFill>
            <a:srgbClr val="E07A5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1080000"/>
            <a:ext cx="10080000" cy="144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15000"/>
              </a:lnSpc>
            </a:pPr>
            <a:r>
              <a:rPr sz="4600" b="1">
                <a:solidFill>
                  <a:srgbClr val="FFFFFF"/>
                </a:solidFill>
                <a:latin typeface="Malgun Gothic"/>
              </a:rPr>
              <a:t>PRD v2.4 핵심 내용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2520000"/>
            <a:ext cx="10080000" cy="90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>
                <a:solidFill>
                  <a:srgbClr val="F5F0E8"/>
                </a:solidFill>
                <a:latin typeface="Malgun Gothic"/>
              </a:rPr>
              <a:t>recordare-prd-v2.md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PRD v2.4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03 / 254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PRD v2.4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04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v2.5 변경 사항 (Changelog)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# / 보완 영역 / 추가 위치 / 영향도 / 출처
• C32 / **§22 보호자 자조 모임 신규** — FR-74~83 (생애주기 자동 매칭 그룹, 자유 개설, 게시판, 모임 일정, RSVP, 알림, 관리자 권한, 신고, 온보딩 CTA, 커뮤니티-케어 데이터 완전 분리) / §22 신규 / 높음 / `parent-self-help-group.plan.md` v1.0
• C33 / §12 FR 총계 갱신 — FR-01~73 (75건) → **FR-01~83 (85건)** / §12 보강 / 중간 / C32 부속
• C34 / UX Structure v1.4 연동 — B.1 자조모임 섹션 + B.7 자조모임 화면 3종 + 보호자 GNB "모임" 메뉴 추가 / `recordare-ux-structure.md` v1.4 / 중간 / C32 부속
• ---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PRD v2.4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05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v2.4 변경 사항 (Changelog)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540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2D2D2D"/>
                </a:solidFill>
                <a:latin typeface="Malgun Gothic"/>
              </a:rPr>
              <a:t>• # / 보완 영역 / 추가 위치 / 영향도 / 출처
• C24 / **FR-05·FR-30 정의 변경** — STT 자체 통합 폐기 (음성 입력은 OS 키보드로 충분) / §5 + §8 / 긴급 / 리빙랩 #01 핵심 안건
• C25 / **§21 신규 — 다중 입력 모드 4종 (FR-69)**: 빠른 선택·체크리스트·사진+태그·텍스트 / §21 / 긴급 / 리빙랩 LS1+JM1+JM2
• C26 / **FR-71 후견인 본인 얼굴 인증** (대법원 ID + 사진 이중 검증) / §18 보강 / 긴급 / 리빙랩 PB1 (박변호사)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0000" y="1800000"/>
            <a:ext cx="540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2D2D2D"/>
                </a:solidFill>
                <a:latin typeface="Malgun Gothic"/>
              </a:rPr>
              <a:t>• C27 / **§3.7 U6 일반교사 페르소나 신규** + 권한 매트릭스 5×20 → 6×20 (120셀) / §3.7 / 긴급 / 리빙랩 YK1 (윤교사)
• C28 / LM2 FR-68 면책 워딩 톤 조정 ("진단 아님" 강조 ↓, "다음 단계" 강조 ↑) / §20.5 / 중간 / 리빙랩 LM2 (이미경)
• C29 / PoC E1 (STT 정확도) 폐기 + 외부 의존성에서 Whisper STT·Clova STT 제거 / §13.2 / §19.5 / Plan §6.5 / 높음 / C24 부속
• C30 / LS2 시간 슬롯 + JM1 사진+태그 + JM2 5분 슬롯 + LS3 확인 도장 + K2 픽토그램 색상 + JM3 빠른 전환 = 6건 부속 통합 / §21 보강 / 중간 / 리빙랩 Batch 3+1
• C31 / **생애주기별 기록 체계·공통 기록 카테고리·자가진단 법적 근거 기준 문서 추가** / §0.1 신규 / 높음 / `recordare-lifecycle-recording-and-legal-screening.md`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PRD v2.4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06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v2.3 변경 사항 (Changelog, 보존)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# / 보완 영역 / 추가 위치 / 영향도 / 출처
• C19 / §3.5 시장 산정 워크시트 (TAM/SAM/SOM 계산식·민감도) / §3.5 / 긴급 / CTO팀 PM Lead Critical
• C20 / §3.6 국내 경쟁 SaaS·공공 시스템 10종 심층 분석 / §3.6 / 긴급 / CTO팀 PM Lead Critical
• C21 / §19 데이터 거주성 명시 (NCP 우선 검토 + 의료데이터 국내 보존 의무) / §19.5 / 높음 / Security &amp; Compliance
• C22 / NFR-03 침투 테스트 일정 명시 (M5W4 + M6W4 + 연 2회) / §12 NFR / 높음 / Security &amp; Compliance
• C23 / Risk #12 정부 정책 변화 시나리오 (발달장애인 권리보장법·바우처 정책) / §12.4 / 중간 / CTO팀 PM Lead 권고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PRD v2.4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07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v2.2 변경 사항 (Changelog, 보존)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# / 보완 영역 / 추가 위치 / 영향도 / 출처
• C14 / 자가진단 도구 6종 통합 (K-DST·K-ASQ·M-CHAT-R·AIR-SDS·K-SIB-R·VABS) + FR-62~66 / §20.2~20.3 / 높음 / 보호자 직접 요청
• C15 / AI 추이 분석 (FR-67) — 시계열 차트 + LLM 인사이트 + 다음 검사 권장 / §20.4 / 높음 / 보호자 변화 관리
• C16 / **의료법 안전 면책 FR-68** — 모든 화면·PDF "보호자 관찰 의견 / 정식 진단은 전문의" 표기 / §20.5 / 긴급 / Risk #10 대응
• C17 / Risk #10 (자가진단→의료 오인) + #11 (AI 추이 오해석) Pre-mortem / §20.6 / 긴급 / 의료법 자문
• C18 / 소속기관 선택성 명시 + 페르소나 김하준(2세, 가정 거주) 추가 / §6 / 낮음 / 신규 진단 보호자 케이스
• ---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PRD v2.4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08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v2.1 변경 사항 (Changelog, 보존)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540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2D2D2D"/>
                </a:solidFill>
                <a:latin typeface="Malgun Gothic"/>
              </a:rPr>
              <a:t>• # / 보완 영역 / 추가 위치 / 영향도 / 출처
• C8 / 18세 권한 이양 6개월 가이드 FR 명시 (FR-48~52) / §15 / 높음 / workflows §B12
• C9 / 케이스 회의 자료 자동 생성 FR 명시 (FR-53) / §16 / 중간 / workflows §B17
• C10 / B2B 결제·구독·B2G 청구 상세 FR 명시 (FR-54~58) / §17 / 높음 / workflows §B18
• C11 / 후견 모드 차등 권한 모델 (FR-59~61) / §18 / 중간 / workflows §A1.4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0000" y="1800000"/>
            <a:ext cx="540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2D2D2D"/>
                </a:solidFill>
                <a:latin typeface="Malgun Gothic"/>
              </a:rPr>
              <a:t>• C12 / 외부 연동(행복e음·NEIS) v1.1 이연 명시 + 로드맵 / §19 / 낮음 / workflows §A4.3
• C13 / §12 통합 요약 갱신 (FR 31→45 누계, NFR 2 유지) / §12 / — / 누적 반영
• **본 v2.1은 v2.0의 모든 결정 컨텍스트를 보존하며, 새 섹션은 §14 Attribution 이전에 §15~§19로 추가됩니다.**
• 출처가 워크플로우 정제(`docs/00-pm/recordare-workflows.md`)이므로, 본 문서와 함께 읽어야 의도를 완전히 파악할 수 있습니다.
• ---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PRD v2.4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09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v2.0 변경 사항 (Changelog, 보존)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540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2D2D2D"/>
                </a:solidFill>
                <a:latin typeface="Malgun Gothic"/>
              </a:rPr>
              <a:t>• # / 보완 영역 / 추가 위치 / 영향도
• C1 / 누락된 사용자 시나리오 (당사자 직접 사용 / 시설장 다중 관리) / §6 / 높음
• C2 / 신규 보호자 온보딩 여정 (기존 기록 마이그레이션 포함) / §7 / 높음
• C3 / 오프라인 연속성 (음성 녹음 → 동기화) / §8 / 중간
• C4 / 알림 시스템 설계 (권한 만료/인계서/신규 기록) / §9 / 중간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0000" y="1800000"/>
            <a:ext cx="540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2D2D2D"/>
                </a:solidFill>
                <a:latin typeface="Malgun Gothic"/>
              </a:rPr>
              <a:t>• C5 / 인지 접근성 심화 (쉬운말·반복 확인·실수 회복) / §10 / 높음
• C6 / 데이터 내보내기 (PDF/엑셀/JSON) / §11 / 중간
• C7 / 통합 FR/NFR 추가 + Test 시나리오 보완 / §12 / 중간
• **v1.0 본문 (§1~§5)은 그대로 유지됩니다.** 본 문서는 v1.0의 모든 의사결정 컨텍스트를 보존한 상태에서 v2.0 보완 섹션 + v2.1 신규 섹션을 부착한 누적 버전입니다.
• ---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PRD v2.4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10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Executive Summary (v2.4)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관점 / v1.0 / v2.0~v2.3 누적 / v2.4 추가 (리빙랩 #01)
• **Problem** / 기록 단절·행정 부담·자기결정권 배제 / + 진입 장벽, 오프라인 누락, 18세 이양 절차, 자가진단 부재, B2G 청구 인프라 / **+ STT 음성 입력이 시설 점심·교실·이용자 옆에서 사용 불가 (이수진 활동지원사 의견) + 통합학급 일반교사 페르소나 부재 + 후견인 위조 사기 위험**
• **Solution** / 통합 타임라인 + STT 음성 일지 + 권한 이행 + 3분 인계서 / + 마법사·오프라인·이양 6개월·자가진단 6종·B2G / **+ STT 자체 통합 폐기 → 다중 입력 4종 (FR-69: 빠른 선택·체크리스트·사진+태그·텍스트+OS음성) + U6 일반교사 + FR-71 후견인 얼굴 인증**
• **Function/UX** / 일지 70%↓, 인계 2주→3분 / + First Value 1h, 자가진단 만족도 4/5 / **+ 일지 작성 30분 → 15초 (빠른 선택, -99%) + 시설 점심·교실 환경 무관 100% 입력 가능 + 통합학급 1명 짧은 메모 가능**
• **Core Value** / "기록은 끊기지 않고, 권한은 당사자에게 자란다" / + "전 생애·전 사용자·전 채널 누락 없이 운영" / **+ "환경 무관·부담 없이·15초에 — 시설 현장의 모든 상황에서 작동하는 기록"**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PRD v2.4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11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Executive Summary (v2.2, 보존)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관점 / v1.0 / v2.0 보완 / v2.1 추가 / v2.2 추가
• **Problem** / 기록 단절·행정 부담·자기결정권 배제 / + 진입 장벽, 오프라인 누락, 알림 부재 / + 18세 이양 절차, 회의자료 수동, B2B/B2G 인프라, 후견 분기 누락 / + 신규 진단 보호자의 객관적 자가 점검 도구 0건 + 발달 변화 추적 부재
• **Solution** / 통합 타임라인 + AI STT + 권한 이행 + 3분 인계서 / + 7-Step 마법사, 오프라인 큐, 다채널 알림, 쉬운말 / + 18세 6개월 이양, 회의자료 자동, 결제·B2G, 후견 차등 / + 한국 표준 자가진단 6종 + AI 시계열 추이 분석 + 의료법 안전 면책
• **Function/UX** / 일지 70%↓, 인계 2주→3분 / + First Value 1h, 오프라인 0%, 알림 클릭 35% / + 이양 정착 90%, 회의자료 60→3분, B2G 95% / + 신규 보호자 자가진단 도달율 70%+, AI 추이 분석 만족도 4/5
• **Core Value** / "기록은 끊기지 않고, 권한은 당사자에게 자란다" / + "한 번도 안 놓치고, 어디서든 이어진다" / + "전 생애·전 사용자·전 채널에서 누락 없이 운영" / + "의료적 진단이 아닌 삶의 변화 기록"
• ---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PRD v2.4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12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Executive Summary (v2.1, 보존)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관점 / v1.0 / v2.0 보완 / v2.1 추가
• **Problem** / 기록 단절·행정 부담·자기결정권 배제 / + 신규 보호자의 "어디서부터 시작?" 진입 장벽 + 오프라인 현장의 기록 누락 + 알림 부재로 인한 권한 만료 사고 / + 18세 권한 이양의 흐릿한 절차 + 사회복지사 회의 자료 수동 작성 부담 + 시설장 B2B 결제·B2G 청구 인프라 미정의 + 후견 결정 사례의 권한 분기 누락
• **Solution** / 통합 타임라인 + AI STT + 권한 이행 + 3분 인계서 / + 30분 마이그레이션 마법사 + 오프라인 큐 동기화 + 만료 D-30/D-7/D-1 다채널 알림 + 쉬운말 모드 + 1-Click 데이터 내보내기 / + 18세 6개월 이양 가이드 + 케이스 회의 자료 AI 자동 요약 + B2B/B2G 결제·청구 자동화 + 후견 유형별 차등 권한 모델
• **Function/UX** / 일지 70% ↓, 인계 2주→3분 / + 신규 보호자 First Value 14일 → **1시간** + 오프라인 기록 손실률 0% + 알림 후 권한 갱신율 80%+ / + 18세 이양 완료 정착율 90%+ + 케이스 회의 자료 작성 60분 → 3분 + B2G 청구 자동화율 95%+
• **Core Value** / "기록은 끊기지 않고, 권한은 당사자에게 자란다" / + "한 번도 안 놓치고, 어디서든 이어진다" — 진입·연속성·통제권 보강 / + "전 생애·전 사용자·전 채널에서 누락 없이 운영된다" — 라이프사이클·기관·결제 전 영역 운영 가능
• ---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PRD v2.4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13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Context Anchor (v2.2)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차원 / v1.0 / v2.0 보완 사항 / v2.1 추가 사항 / v2.2 추가 사항
• **WHY** / 발달장애 26.2만 + 가족 78만 / + 오프라인 음영 지역 기록 손실 / + 18세 이양 자립 분기점 / **+ 발달지연 의심 시기 보호자의 막연한 불안 → 객관적 도구 부재가 진단 지연·과민·이탈 발생 (K-DST 미사용 가구 비율 38%, 보건복지부 2024)**
• **WHO** / 당사자/보호자/현장전문가 3종 / + 시설장, 신규 진입 보호자 / + 후견인, 공공 B2G / **+ 발달재활 전문의 (도구 결과 연계 대상) + 영유아 발달 정밀평가 대상 가족**
• **RISK** / 민감정보·후견·AAC·법적 분쟁 / + 알림 피로, 마이그레이션 이탈 / + 이양 사고, B2G 환수, 후견 위조 / **+ 자가진단을 의료 진단으로 오인 (Risk #10 致命) + AI 추이 오해석 (Risk #11 高)**
• **SUCCESS** / 일지 8→2분, 인계 80%, NPS 30+ / + First Value, 오프라인, 알림 클릭 / + 이양 정착 90%, 회의 95%↓, B2G 95% / **+ 신규 보호자 자가진단 도달 70%+, K-DST 8단계 완주 60%+, 의료적 LLM 출력 0건**
• **SCOPE** / 보호자+활동지원사 양면 MVP / + 시설장 콘솔, 마이그레이션 / + 이양·B2G·후견 GA 포함 / **+ K-DST·M-CHAT-R·AIR-SDS·AI 추이 분석 MVP Beta 포함 / K-SIB-R·VABS-3 v1.1 이연**
• ---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PRD v2.4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14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Context Anchor (v2.1, 보존)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차원 / v1.0 / v2.0 보완 사항 / v2.1 추가 사항
• **WHY** / 발달장애 당사자 26.2만 명 + 가족 포함 78만 명의 기록 단절·권리 침해 (2024 보건복지부) / + 모바일 데이터 음영 지역(시설 지하·산간·교통차량)에서의 기록 누락이 일선 활동지원사의 실질 손실 비용 (월평균 5~7건 기록 손실) / + 18세 권한 이양은 자립 성공·실패를 가르는 **단일 최대 분기점** (보건복지부 자립지원 통계: 이양 절차 부재 시 입소 시설 재진입율 +35%)
• **WHO** / 당사자/보호자/현장전문가 3종 / + **시설장 (B2B 결제자, 평균 25~80명 다중 관리)**, + **신규 진입 보호자 (영유아·신규진단 시기)** / + **후견인 (한정/특정/성년 후견 결정문 보유자)**, + **공공 B2G 행정 시스템 (행복e음·NEIS)** — 직접 사용자는 아니지만 연동 수신처
• **RISK** / 민감정보·후견·AAC·법적 분쟁 / + 알림 피로(Notification Fatigue) + 마이그레이션 시 사진 분류 오류로 인한 보호자 이탈 / + 18세 이양 절차 오류로 인한 자립 사고(법적 분쟁) + B2G 청구 오류로 인한 시설 운영 손실 + 후견 결정문 검증 실패로 인한 권한 부정 사용
• **SUCCESS** / 일지 8→2분, 인계 80%, NPS 30+ / + 신규 보호자 1주 잔존율 70%+, 오프라인 동기화 성공률 99.9%+, 알림 클릭율 35%+ / + 18세 이양 정착율 90%+, 케이스 회의 자료 시간 95%↓, B2G 청구 자동화율 95%+, 후견 결정 검증 100%
• **SCOPE** / 보호자 + 활동지원사 양면 MVP / + **시설장 콘솔(소형, 30인 이하) MVP 포함**, + 마이그레이션 마법사 MVP 포함, IoT/PHR 연동 제외 유지 / + **18세 이양 가이드 MVP 포함**, + **B2B 결제·B2G 분기 청구 MVP 포함**, + **후견 모드 GA 1.0 포함**, + 행복e음·NEIS 연동 **v1.1 이연 명시**
• ---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PRD v2.4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15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§0.1 v2.4 보강 — 생애주기 기록 기준 및 법적 근거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기준 문서: `docs/00-pm/recordare-lifecycle-recording-and-legal-screening.md`
• 본 PRD의 타임라인, 자가진단, 권한, 인계서, 케이스 회의, 데이터 모델 설계는 아래 생애주기·카테고리 기준을 공통 taxonomy로 사용한다.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PRD v2.4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16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§0.1 v2.4 보강 — 생애주기 기록 기준 및 법적 근거 · 0.1.1 생애주기별 기록 매트릭스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생애주기 / 기록 종류 / 핵심 카테고리 / 주요 작성/기록 내용 / 주 작성자 / 연결 FR
• 영유아기 0~6세 / 발달·건강 중심 / 기본정보, 건강검진, 발달선별, 치료·재활, 가족환경 / 출생/진단 이력, 영유아 건강검진, K-DST, M-CHAT-R, 발달재활서비스, 식사·수면·감각반응 / 보호자, 의료/발달재활 전문가 / FR-08, FR-25, FR-62, FR-63, FR-67, FR-68
• 학령기 7~14세 / 교육·생활 적응 중심 / 교육, IEP, 행동·정서, 또래관계, 돌봄일지 / 개별화교육계획, 학교생활 적응, 학습지원, 문제행동 트리거, 일반교사 짧은 메모 / 보호자, 특수교사, 일반교사, 활동지원사 / FR-06, FR-08, FR-69, FR-72, FR-73
• 전환기 15~24세 / 자립 준비·권한 이행 중심 / 자기결정, 진로·직업, 권한동의, 자립생활, 서비스 연계 / AIR-SDS, 직업평가, 진로희망, 18세 권한 이양 동의, AAC Yes/No 선택 이력 / 당사자, 보호자, 교사, 사회복지사 / FR-11, FR-17~19, FR-48~52, FR-64
• 성인기 25~64세 / 생활·고용·서비스 이용 중심 / 주거, 고용, 건강, 서비스, 권한관리, 인계 / 취업처 적응, 주거생활, 활동지원 계약, 투약·건강관리, 권한 부여/회수, 후견 여부 / 당사자, 보호자/후견인, 활동지원사, 사회복지사, 시설장 / FR-02, FR-09, FR-35, FR-43, FR-59~61, FR-71
• 고령기 65세+ / 건강·돌봄 연속성 중심 / 의료, 장기돌봄, 인지·신체 변화, 후견, 가족지원 / 만성질환, 낙상/응급 이력, 인지변화, 복약, 장기돌봄 인계, 후견·대리 의사결정 로그 / 당사자, 보호자/후견인, 의료·돌봄기관, 사회복지사 / FR-08, FR-09, FR-13~15, FR-59~61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PRD v2.4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17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§0.1 v2.4 보강 — 생애주기 기록 기준 및 법적 근거 · 0.1.2 공통 기록 카테고리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990000"/>
            <a:ext cx="11472119" cy="3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algun Gothic"/>
              </a:rPr>
              <a:t>0.1.2 공통 기록 카테고리 (계속 1/2)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1800000"/>
            <a:ext cx="540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2D2D2D"/>
                </a:solidFill>
                <a:latin typeface="Malgun Gothic"/>
              </a:rPr>
              <a:t>• Recordare의 `JournalEntry`, `TimelineCard`, `ScreeningResult`, `Handover`, `CaseMaterial`, `AuditLog`는 다음 공통 카테고리 집합 중 하나 이상에 매핑된다.
• 대분류 / 세부 카테고리 / 사용 위치
• 기본 프로필 / 인적사항, 장애등록, 가족관계, 소속기관 / 온보딩, 자녀/이용자 등록, 권한
• 건강·의료 / 검진, 진료, 투약, 알레르기, 응급 / 타임라인, 인계서, 케이스 회의
• 발달·자가진단 / K-DST, M-CHAT-R, AIR-SDS, 적응행동 / 자가진단, AI 추이, PDF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0000" y="1800000"/>
            <a:ext cx="540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2D2D2D"/>
                </a:solidFill>
                <a:latin typeface="Malgun Gothic"/>
              </a:rPr>
              <a:t>• 교육·학습 / IEP, 학습목표, 수업참여, 일반교사 메모 / 학령기 타임라인, U4/U6 화면
• 일상·돌봄 / 식사, 수면, 위생, 이동, 활동 / FR-69 다중 입력 일지
• 행동·정서 / 트리거, 안정방법, 감정 변화 / 일지, 인계서, 케이스 회의
• 자립·직업 / 직업훈련, 주거, 금전관리, 이동훈련 / 전환기/성인기 타임라인
• 권한·동의 / 접근권한, 동의, 회수, 후견 / 권한 매트릭스, AAC 동의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PRD v2.4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18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§0.1 v2.4 보강 — 생애주기 기록 기준 및 법적 근거 · 0.1.2 공통 기록 카테고리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990000"/>
            <a:ext cx="11472119" cy="3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algun Gothic"/>
              </a:rPr>
              <a:t>0.1.2 공통 기록 카테고리 (계속 2/2)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인계·회의 / 3분 인계서, 케이스 회의, PDF 공유 / 인계서, 회의자료
• 감사·보안 / 접근로그, 이상접근, 다운로드 / Audit Log, 보호자 알림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PRD v2.4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19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§0.1 v2.4 보강 — 생애주기 기록 기준 및 법적 근거 · 0.1.3 자가진단·법적 안전 원칙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K-DST, M-CHAT-R, AIR-SDS, K-SIB-R, VABS-3는 **진단서가 아니라 보호자 관찰 기록·선별·추이 관리 도구**로 표현한다.
• 모든 자가진단 화면, PDF, 외부 공유물, AI 인사이트는 FR-68에 따라 "보호자 관찰 의견 / 정식 진단은 전문의 상담" 고지를 포함한다.
• 건강·장애·자가진단·후견 정보는 개인정보보호법상 민감정보로 취급하고 FR-15 분리 동의, FR-13 암호화, FR-14 접근 알림·감사 로그를 적용한다.
• IEP/개별화교육계획, 발달재활서비스, 후견 관련 법적 근거와 공식 자료 링크는 기준 문서 §5를 원천으로 관리한다.
• ---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PRD v2.4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20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§1 ~ §5 (v1.0 그대로 유지)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v1.0의 Discovery(§1), Strategy(§2), Research(§3), Beachhead &amp; GTM(§4), PRD 8 sections(§5)는 변경 없이 그대로 유효합니다. 본 v2.0 문서는 v1.0과 함께 읽혀야 합니다.
• 원문 참조: `docs/00-pm/recordare.prd.md`
• ---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PRD v2.4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21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§3.5 v2.3 신규 — 시장 산정 워크시트 (TAM/SAM/SOM)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CTO팀 PM Lead Critical C1 대응 — TAM/SAM/SOM 산정 가정·계산식·민감도 명시화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PRD v2.4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22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§3.5 v2.3 신규 — 시장 산정 워크시트 (TAM/SAM/SOM) · 3.5.1 TAM (Total Addressable Market) — 약 4,500억원/년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세그먼트 / 모수 / ARPU (월) / 연 합산 / 출처
• 발달장애 가정 / 78만 가구 / 12,000원 / 1,123억 / 보건복지부 2024 등록 인구
• 그룹홈 / 거주시설 / 8,000곳 / 시설당 30만원 / 288억 / 보건복지부 사회복지시설 정보시스템
• 활동지원사 (자격증) / 4만명 / 0 (간접 ARPU, 인계서 발급당) / — / 한국활동지원사협회
• 사회복지사·특수교사 / 4만명 + 1.5만명 / 0 / — / 한국사회복지사협회·교육부
• 발달재활서비스 바우처 / 연 1,243억 (2024 보건복지부 예산) / — / 1,243억 (잠재 B2G 청구 시장) / 보건복지부 사회서비스
• 부수 시장 (사단법인 · 보험사 등) / — / — / 1,846억 / 시장 조사 보고서
• **합계** / — / — / **약 4,500억** / —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PRD v2.4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23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§3.5 v2.3 신규 — 시장 산정 워크시트 (TAM/SAM/SOM) · 3.5.2 SAM (Serviceable Available Market) — 약 1,200억원/년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세그먼트 / 도달 가능 (SAM) / 계산
• 수도권 + 5대 광역시 가정 / 78만 × 65% = 50.7만 / 도시 거주 비율
• 만 0~24세 자녀 가구 / 50.7만 × 50% = 25.4만 / 활성 케어 연령 (전환기 이전)
• 가정 ARPU / 25.4만 × 9,900원 × 12개월 / **302억 / 년**
• 그룹홈 (수도권 + 광역시) / 8,000 × 38% = 3,040곳 / 도시 집중
• 시설 ARPU / 3,040 × 30만원 × 12개월 / **109억 / 년**
• 발달재활 바우처 (수도권 비중) / 1,243억 × 0.65 / **808억 / 년** (잠재 B2G)
• **합계** / — / **약 1,219억 / 년**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PRD v2.4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24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§3.5 v2.3 신규 — 시장 산정 워크시트 (TAM/SAM/SOM) · 3.5.3 SOM (Serviceable Obtainable Market) — 약 180억원/3년 누적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시나리오 / 3년차 점유율 / 매출
• **Base** (5%) / 5% / 12,720 가정 + 152 시설 + B2G 32억 = **약 180억**
• **Conservative** (3%) / 3% / 약 108억
• **Optimistic** (8%) / 8% / 약 290억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PRD v2.4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25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§3.5 v2.3 신규 — 시장 산정 워크시트 (TAM/SAM/SOM) · 3.5.4 민감도 분석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가정 / ±10% 변화 시 SOM 영향
• 가정 ARPU 9,900 → ±990원 / ±18억 (±10%)
• 시설 ARPU 30만 → ±3만 / ±5억
• B2G 청구 자동화율 95% → 85% / -8억
• 점유율 5% → 4% / -36억
• **민감도 최대 변화** / **±67억**
• ---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PRD v2.4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26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§3.6 v2.3 신규 — 국내 경쟁 SaaS·공공 시스템 10종 분석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CTO팀 PM Lead Critical C2 대응 — 5종 카테고리 비교를 넘어 직접 경쟁 분석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PRD v2.4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27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§3.6 v2.3 신규 — 국내 경쟁 SaaS·공공 시스템 10종 분석 · 3.6.1 민간 SaaS 5종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# / 서비스명 / 운영사 / 주 사용자 / Recordare 차별점
• 1 / 케어아이 / (주)케어아이 / 그룹홈·복지관 ERP / 인계서·당사자 모드 부재, 기관 폐쇄 DB
• 2 / 누리 자립지원 / 사회복지법인 누리 / 자립생활지원사 / 일지 기능만, 권한 매트릭스 없음
• 3 / 에이블링 / 에이블링컴퍼니 / 발달장애 부모 커뮤니티 / 커뮤니티 중심, 기록 기능 약함
• 4 / 베어베터 라이프 / 베어베터 / 발달장애 고용 / 직장 일지 한정
• 5 / 우리집 케어 노트 / 개인 개발자 앱 / 보호자 개인 메모 / 권한·인계 부재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PRD v2.4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28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§3.6 v2.3 신규 — 국내 경쟁 SaaS·공공 시스템 10종 분석 · 3.6.2 공공 시스템 5종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# / 시스템명 / 운영기관 / 데이터 범위 / Recordare 연계
• 1 / 행복e음 (사회보장정보시스템) / 보건복지부 / 사회복지 케이스 관리 / **v1.1 이연** 연동 (§19)
• 2 / NEIS (학교생활기록부) / 교육부 / 학적·IEP / **v1.1 이연** 연동 (§19)
• 3 / 발달재활서비스 정보시스템 / 한국사회보장정보원 / 바우처 청구·기록 / FR-56 B2G 청구 자동화
• 4 / 국민건강보험공단 의료정보 / 건강보험공단 / 의료 이력 / **v2.0 이연** 연동 (FR-66 검토)
• 5 / 장애인 등록 정보시스템 / 보건복지부 / 등록 등급·심사 / 본인인증 시 자동 매칭 (FR-25)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PRD v2.4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29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§3.6 v2.3 신규 — 국내 경쟁 SaaS·공공 시스템 10종 분석 · 3.6.3 차별화 매트릭스 — 단독 사분면 재확인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권한·연속성 高 ↑ │ │       ★ Recordare (단독) │       (5×20 권한 + 5단계 생애주기 + AAC) │ ───────────┼───────────→ 권한·연속성 低 │ 행복e음 ●  │  ● 케어아이 NEIS ●     │ │  ● 누리 / 에이블링 ↓
• Recordare는 **권한 매트릭스 5×20 + 생애주기 연속성 + 당사자 AAC**의 3축에서 단독 사분면 확보.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PRD v2.4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30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§3.6 v2.3 신규 — 국내 경쟁 SaaS·공공 시스템 10종 분석 · 3.6.4 가격 포지셔닝 (잠정)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서비스 / 가정 (월) / 시설 (월) / 비고
• 케어아이 / — / 50만원~ / B2B 전용
• 누리 자립지원 / 무료 (정부 지원) / — / 사회복지법인
• 에이블링 / 무료 / 프리미엄 9,900원 / — / 커뮤니티
• **Recordare (잠정)** / **9,900원 (Personal Plus)** / **이용자당 9,500~12,000원** / B2C + B2B + B2G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PRD v2.4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31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§3.6 v2.3 신규 — 국내 경쟁 SaaS·공공 시스템 10종 분석 · 3.6.5 PoC 액션 (M3 이전)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시설장 5곳에 가격 인터뷰 (WTP 측정) — E3 (6주)
• 케어아이 마이그레이션 가능성 사전 검토 (PoC E9 신설 권장, v3 PRD 보완 시)
• ---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PRD v2.4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32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§3.7 v2.4 신규 — U6 일반교사 페르소나 (통합학급)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리빙랩 #01 YK1 (윤교사) 의견 — 통합학급 일반교사가 발달장애 학생 1~2명을 담당하는 케이스. 기존 U4 (특수교사) 외 별도 페르소나로 신설.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PRD v2.4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33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§3.7 v2.4 신규 — U6 일반교사 페르소나 (통합학급) · 3.7.1 페르소나 정의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항목 / 값
• 코드 / **U6**
• 대표 인물 / 윤교사 (35세, 초등학교 통합학급 담임 5년차)
• 담당 규모 / 일반 학생 25명 + 통합 발달장애 학생 1~2명
• 핵심 동기 / 통합학급 분위기·또래 영향 짧은 메모 + 특수교사·보호자 공유
• 사용 빈도 / 주 2~3회 (특수교사보다 적음, 일반교사 본업 외 부수 작업)
• 입력 방식 선호 / ⚡ 빠른 선택 + ⌨️ 텍스트 (긴 메모)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PRD v2.4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34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§3.7 v2.4 신규 — U6 일반교사 페르소나 (통합학급) · 3.7.2 JTBD (6-Part)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6-Part / 내용
• **When** / 통합학급 발달장애 학생의 행동·관계·학습이 두드러진 사건이 발생할 때
• **I want to** / 짧은 메모로 학급 분위기·또래 영향을 기록하고 특수교사·보호자에게 공유하고 싶다
• **So I can** / 일반 학생 25명을 동시 관리하면서도 통합 학생의 케어 연속성에 기여한다
• **Help me** / 1줄 메모로 빠르게 작성·공유, 특수교사 IEP에 반영되는 흐름
• **Avoid** / 일반 학생 정보가 통합 학생 기록과 섞이는 것
• **Make me feel** / 통합학급 담임으로서 발달장애 학생 케어에 보탬이 되는 보람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PRD v2.4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35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§3.7 v2.4 신규 — U6 일반교사 페르소나 (통합학급) · 3.7.3 권한 매트릭스 (5×20 → 6×20 = 120셀)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권한 매트릭스 행에 U6 추가 — 자세한 셀별 권한은 `recordare-workflows.md` v1.4 Part C.1 참조.
• 단위업무 / U6 권한 (요약)
• B4 일지 작성 (빠른 선택·짧은 메모) / △ (담당 통합 학생만, 학급 컨텍스트 한정)
• B6 타임라인 조회 / △ (담당 통합 학생만, 권한 마스킹 강화)
• B10 인계서 생성 / ❌ (특수교사·보호자만)
• B13 알림 수신 / ✅
• B17 케이스 회의 자료 (FR-53) / △ (특수교사 요청 시 짧은 메모 첨부)
• 기타 모든 업무 / ❌ 또는 △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PRD v2.4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36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§3.7 v2.4 신규 — U6 일반교사 페르소나 (통합학급) · 3.7.4 신규 FR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FR# / 요구사항 / 우선순위
• **FR-72** / U6 일반교사 페르소나 권한 모델 (담당 학생 한정 + 학급 컨텍스트 마스킹) / P0
• **FR-73** / U6 통합학급 짧은 메모 화면 (1줄, 빠른 선택 모드 기반, 특수교사·보호자 공유) / P0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PRD v2.4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37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§3.7 v2.4 신규 — U6 일반교사 페르소나 (통합학급) · 3.7.5 측정 KPI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KPI / 목표 (MVP Beta)
• U6 시범 일반교사 모집 / 시범 학교 5곳 × 통합학급 5명 = 25명
• U6 메모 1건 평균 작성 시간 / &lt; 30초
• 특수교사 IEP 반영율 (U6 메모 → IEP) / 50%+
• ---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PRD v2.4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38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§6. 보완 — 누락된 사용자 시나리오 · 6.1 시나리오 A — 당사자가 직접 플랫폼을 사용하는 AAC 케이스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990000"/>
            <a:ext cx="11472119" cy="3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algun Gothic"/>
              </a:rPr>
              <a:t>6.1 시나리오 A — 당사자가 직접 플랫폼을 사용하는 AAC 케이스 (계속 1/2)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1800000"/>
            <a:ext cx="540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2D2D2D"/>
                </a:solidFill>
                <a:latin typeface="Malgun Gothic"/>
              </a:rPr>
              <a:t>• 6.1.1 페르소나 컨텍스트
• **김민지 (17세, 경계성 지적장애, Persona #1)** — v1.0 §3.2.1 참조
• **상황 가정**: 학교 자립생활 수업에서 본인 계정 첫 사용
• **선결 조건**: 보호자가 "당사자 계정 활성화" 동의, 음성 안내 ON, 글자 크기 큼
• 6.1.2 시나리오 흐름 [1] 학교 자립생활 수업 — 담임이 태블릿을 민지에게 건넴 └─ 첫 화면: 큰 사진(엄마, 담임, 활동지원사 이수진) 3장 └─ 음성: "민지님, 누가 보여요?" └─ 민지: "엄마요" (음성 인식) 또는 엄마 사진 탭 ↓ [2] 환영 화면 └─ "민지님, 오늘은 새로운 친구가 인사해요" └─ 사진 + 이름 + 픽토그램(직업: 활동지원사) └─ 음성: "이 친구가 민지님 일기를 봐도 될까요?" ↓ [3] AAC 동의 (Yes/No 카드) └─ 큰 카드 2장: [동그라미 = 좋아요] [엑스 = 싫어요] └─ 한 번 더 확인: "정말로 보여줘도 될까요?" (실수 방지) ↓ [4] 동의 완료 — 축하 애니메이션 └─ "고마워요! 민지님이 정해줬어요" └─ 음성으로 "엄마에게 알려드릴게요" 안내 ↓ [5] 보호자(엄마)에게 푸시 알림 → "민지님이 직접 동의했어요" 6.1.3 핵심 UX 원칙 (당사자 모드 전용)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0000" y="1800000"/>
            <a:ext cx="540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2D2D2D"/>
                </a:solidFill>
                <a:latin typeface="Malgun Gothic"/>
              </a:rPr>
              <a:t>• **1화면 1결정**: 동시에 2개 이상의 선택지를 묻지 않는다
• **2단계 확인**: 모든 권한·동의 행동은 "한 번 더 묻기" 필수
• **취소는 항상 가능**: 어떤 화면에서도 큰 [집] 버튼으로 처음 화면 복귀
• **부정적 단어 회피**: "삭제" 대신 "지울게요", "오류" 대신 "다시 해볼게요"
• **시간 압박 없음**: 자동 타임아웃 없음, 본인이 스스로 닫을 때까지 유지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PRD v2.4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39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§6. 보완 — 누락된 사용자 시나리오 · 6.1 시나리오 A — 당사자가 직접 플랫폼을 사용하는 AAC 케이스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990000"/>
            <a:ext cx="11472119" cy="3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algun Gothic"/>
              </a:rPr>
              <a:t>6.1 시나리오 A — 당사자가 직접 플랫폼을 사용하는 AAC 케이스 (계속 2/2)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6.1.4 신규 FR (당사자 모드)
• FR# / 요구사항 / 우선순위
• FR-17 / 당사자 모드: 픽토그램+음성+큰글씨 3종 동시 제공 / P0
• FR-18 / 모든 권한 동의 화면에서 2단계 확인(Double-confirm) 의무 / P0
• FR-19 / 당사자 동의 행사 시 보호자에게 5분 내 푸시 알림 / P0
• FR-20 / "지우기/되돌리기" 기능 항상 노출 (모든 화면 좌상단) / P1
• ---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PRD v2.4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40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§6. 보완 — 누락된 사용자 시나리오 · 6.2 시나리오 B — 시설장이 여러 이용자를 동시 관리하는 케이스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990000"/>
            <a:ext cx="11472119" cy="3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algun Gothic"/>
              </a:rPr>
              <a:t>6.2 시나리오 B — 시설장이 여러 이용자를 동시 관리하는 케이스 (계속 1/2)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1800000"/>
            <a:ext cx="540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2D2D2D"/>
                </a:solidFill>
                <a:latin typeface="Malgun Gothic"/>
              </a:rPr>
              <a:t>• 6.2.1 페르소나 컨텍스트
• **(신규 페르소나) 정원장 (52세, 그룹홈 시설장)** — 정원 12명 그룹홈 운영, 활동지원사 5명 관리
• **상황**: 분기별 인계서 정산 + 활동지원사 계약 갱신 시점 일괄 처리
• 6.2.2 시나리오 흐름 [1] 시설장 대시보드 진입 (월요일 오전 9시) └─ KPI 카드 3개: 이용자 12명 / 활동지원사 5명 / 이번 주 만료 3건 ↓ [2] "이번 주 만료 3건" 클릭 └─ 활동지원사 이름·만료일·이용자 매핑 표 (D-7/D-3/D-1) └─ 일괄 갱신 체크박스 ↓ [3] 일괄 갱신 클릭 → 일괄 권한 갱신 확인 모달 └─ "5명 중 3명 / 이용자 8명에 영향" └─ 갱신 기간(3/6/12개월) 선택 → 일괄 적용 ↓ [4] 인계서 정산 탭 이동 └─ 분기 동안 생성된 인계서 7건 일괄 승인/송부 └─ B2G 바우처 대상 인계서 자동 식별 + 청구 리포트 다운로드 ↓ [5] 결제/구독 현황 → 익월 구독료 자동 결제 예고 6.2.3 핵심 UX 원칙 (시설장 모드)
• **다중 선택 우선**: 모든 리스트는 체크박스 기본 노출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0000" y="1800000"/>
            <a:ext cx="540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2D2D2D"/>
                </a:solidFill>
                <a:latin typeface="Malgun Gothic"/>
              </a:rPr>
              <a:t>• **권한 영향 미리보기**: 일괄 처리 전 "N명에게 영향" 항상 명시
• **감사 로그 1-Click**: 누가/언제/무엇 했는지 CSV 즉시 내보내기
• **법령 부합 표시**: 화면 우상단에 ISMS-P 인증 배지 + 마지막 감사일
• 6.2.4 신규 FR (시설장 모드)
• FR# / 요구사항 / 우선순위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PRD v2.4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41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§6. 보완 — 누락된 사용자 시나리오 · 6.2 시나리오 B — 시설장이 여러 이용자를 동시 관리하는 케이스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990000"/>
            <a:ext cx="11472119" cy="3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algun Gothic"/>
              </a:rPr>
              <a:t>6.2 시나리오 B — 시설장이 여러 이용자를 동시 관리하는 케이스 (계속 2/2)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FR-21 / 시설장 대시보드: 이용자/직원/계약 만료 3-KPI 카드 / P0
• FR-22 / 활동지원사 권한 일괄 갱신/회수 (영향 범위 사전 미리보기) / P0
• FR-23 / 분기 인계서 일괄 승인 + B2G 바우처 청구서 자동 생성 / P1
• FR-24 / 시설장 → 보호자 그룹 공지 (시설 일정, 위생 점검 등) / P2
• ---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PRD v2.4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42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§7. 보완 — 신규 보호자 온보딩 (First Value 1시간 안에) · 7.1 온보딩 페인포인트 진단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단계 / 기존 페인 / 목표 First Value
• 가입 후 첫 5분 / "뭘 해야 할지 모르겠다" / 자녀 프로필 1개 완성
• 첫 30분 / "사진 5,000장을 어떻게 올리지?" / 사진 100장 자동 분류 결과 미리보기
• 첫 1시간 / "이게 정말 도움이 될까?" / 인계서 샘플 1장 PDF 다운로드
• 첫 1주 / "혼자 쓰는 느낌이다" / 학교 담임/활동지원사 1명 연결 완료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PRD v2.4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43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§7. 보완 — 신규 보호자 온보딩 (First Value 1시간 안에) · 7.2 7단계 온보딩 마법사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[Step 1] 환영 + 본인인증 (PASS/카카오) └─ 진행 바: ●○○○○○○ (1/7) ↓ [Step 2] 자녀 등록 (이름/생년월일/장애 등급) └─ 자녀가 여러 명이면 "또 한 명 등록" 가능 (스킵 가능) └─ 진행 바: ●●○○○○○ ↓ [Step 3] 현재 소속 기관 선택 (학교/복지관/없음) └─ 자동완성 + "직접 입력" 옵션 └─ 추후 변경 가능 안내 ↓ [Step 4] 기존 기록 마이그레이션 (선택)  ★ 핵심 ┌─────────────────────────────────────┐ │ 카톡 사진/영상   [업로드] (1만장까지) │ │ 휴대폰 갤러리   [선택]              │ │ 종이 노트       [사진 찍기→OCR]     │ │ 엑셀/한글 파일  [드래그앤드롭]      │ │ 건너뛰기        [나중에 할게요]     │ └─────────────────────────────────────┘ └─ 백그라운드 처리 + 진행률 (스킵 가능) ↓ [Step 5] 권한 모델 선택 (자녀 나이 기반 자동 추천) └─ 만 18세 미만: "보호자 전권" 자동 └─ 만 18세 이상: "보호자 + 당사자 공동" 추천 └─ 후견 결정문 있음: "후견 모드" 안내 ↓ [Step 6] 알림 채널 설정 (푸시/SMS/이메일/카톡) └─ 권한 만료·인계서 수신·신규 기록 3종 기본 ON ↓ [Step 7] First Value 체험 ├─ 미리 분류된 사진 타임라인 미리보기 (10장) ├─ AI 자동 생성 인계서 샘플 PDF 다운로드 └─ "축하합니다! 레코다레 사용 준비 완료"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PRD v2.4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44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§7. 보완 — 신규 보호자 온보딩 (First Value 1시간 안에) · 7.3 마이그레이션 마법사 상세 (Step 4)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990000"/>
            <a:ext cx="11472119" cy="3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algun Gothic"/>
              </a:rPr>
              <a:t>7.3 마이그레이션 마법사 상세 (Step 4) (계속 1/2)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1800000"/>
            <a:ext cx="540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2D2D2D"/>
                </a:solidFill>
                <a:latin typeface="Malgun Gothic"/>
              </a:rPr>
              <a:t>• 7.3.1 입력 채널별 처리
• 채널 / 처리 방식 / 시간
• 카톡 사진 (.zip 백업) / 사진 EXIF 날짜 → 시기 자동 분류 + GPT-Vision으로 식사/활동/의료 자동 태깅 / 1만장 / 14일
• 휴대폰 갤러리 / 동일 처리 + 위치 정보 익명화 / 5천장 / 7일
• 종이 노트 사진 / OCR (네이버 클로바 OCR) → 텍스트 추출 + 날짜 추정 / 100장 / 3일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0000" y="1800000"/>
            <a:ext cx="540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2D2D2D"/>
                </a:solidFill>
                <a:latin typeface="Malgun Gothic"/>
              </a:rPr>
              <a:t>• 엑셀/한글 / 행 단위 파싱 (날짜/이벤트/메모 컬럼 자동 매핑) / 즉시
• 7.3.2 마이그레이션 중 UX 약속
• **백그라운드 처리 + 푸시 알림**: 보호자는 앱 닫고 일상 가능
• **정확도 70% 보장 + 보호자 검수 UI**: AI가 분류한 결과를 보호자가 카드 스와이프로 검증
• **되돌리기 가능**: 잘못 분류된 사진 한 번에 재분류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PRD v2.4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45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§7. 보완 — 신규 보호자 온보딩 (First Value 1시간 안에) · 7.3 마이그레이션 마법사 상세 (Step 4)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990000"/>
            <a:ext cx="11472119" cy="3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algun Gothic"/>
              </a:rPr>
              <a:t>7.3 마이그레이션 마법사 상세 (Step 4) (계속 2/2)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**개인정보 분리 동의**: 마이그레이션 전용 별도 동의서 (얼굴 인식 사용 여부 옵트인)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PRD v2.4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46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§7. 보완 — 신규 보호자 온보딩 (First Value 1시간 안에) · 7.4 신규 FR (온보딩)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FR# / 요구사항 / 우선순위
• FR-25 / 7단계 온보딩 마법사 (Step 1~7, 각 단계 스킵 가능) / P0
• FR-26 / 카톡 zip 백업 일괄 업로드 + AI 자동 시기/카테고리 분류 / P0
• FR-27 / 종이 노트 OCR → 타임라인 자동 등록 / P1
• FR-28 / 마이그레이션 결과 보호자 검수 UI (카드 스와이프 분류 정정) / P0
• FR-29 / First Value 체크: 가입 1시간 내 PDF 인계서 샘플 다운로드 1건 달성률 KPI / P0
• ---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PRD v2.4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47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§8. 보완 — 오프라인 연속성 (Offline-First 음성 기록) · 8.1 시나리오 — 활동지원사 이수진의 산간 캠프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오전 10시 : 강원도 산간 발달장애인 캠프 도착 (4G 없음) 오전 11시 : 식사 시간 음성 일지 1건 작성 → 로컬 큐 저장 오후 02시 : 산책 중 돌발행동 사건 → 음성+사진 첨부 일지 → 로컬 큐 저장 오후 06시 : 캠프 복귀, WiFi 연결됨 → 앱이 자동으로 큐에 쌓인 5건 백그라운드 동기화 → 충돌 감지 (동일 시간대 보호자 기록 1건 발견) → 사용자에게 병합/덮어쓰기 선택 UI 제공 → 완료 후 "오늘의 일지 5건이 모두 안전하게 동기화되었습니다" 알림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PRD v2.4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48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§8. 보완 — 오프라인 연속성 (Offline-First 음성 기록) · 8.2 기술 요구사항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항목 / 내용
• **저장 위치** / IndexedDB (브라우저) / SQLite (앱)
• **저장 용량** / 1인당 최대 500MB (오프라인 음성 200건 ~ 2시간 분량)
• **암호화** / 로컬 저장 시에도 AES-256 + 사용자 패스워드 기반 키
• **동기화 트리거** / (1) WiFi/LTE 복귀 (2) 앱 포그라운드 (3) 수동
• **충돌 해결** / Last-Write-Wins 기본 + 동일 시간대 충돌 시 수동 병합 UI
• **STT 처리** / 온라인 복귀 후 서버에서 일괄 처리 (배터리 절약)
• **오프라인 표시** / 상단 배너 "오프라인 모드 — 5건 대기 중"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PRD v2.4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49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§8. 보완 — 오프라인 연속성 (Offline-First 음성 기록) · 8.3 신규 FR (오프라인)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**v2.4 변경 표시**: FR-30이 "오프라인 음성 녹음"에서 "오프라인 일지 (빠른 선택·체크리스트·사진+태그·텍스트)"로 재정의됨. 음성 데이터 별도 저장 X. 자세한 내용은 §21 참조.
• FR# / 요구사항 / 우선순위
• FR-30 (v2.4 변경) / **오프라인 일지 로컬 큐 저장** (빠른 선택·체크리스트·사진+태그·텍스트 모두 지원, 최대 500MB) / P0
• FR-31 / 네트워크 복귀 시 자동 동기화 + 충돌 병합 UI / P0
• FR-32 / 오프라인 모드 상단 배너 + 큐 건수 표시 / P0
• FR-33 / 로컬 저장 데이터 AES-256 암호화 / P0
• FR-34 / 동기화 실패 시 7일간 재시도 + 보호자/관리자 알림 / P1
• ---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PRD v2.4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50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§9. 보완 — 알림 시스템 설계 · 9.1 알림 분류 매트릭스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990000"/>
            <a:ext cx="11472119" cy="3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algun Gothic"/>
              </a:rPr>
              <a:t>9.1 알림 분류 매트릭스 (계속 1/2)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1800000"/>
            <a:ext cx="540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2D2D2D"/>
                </a:solidFill>
                <a:latin typeface="Malgun Gothic"/>
              </a:rPr>
              <a:t>• 알림 유형 / 채널 / 긴급도 / 수신자 / Throttle
• **권한 만료 D-30** / 푸시 + 이메일 / 중간 / 시설장, 보호자 / 1회
• **권한 만료 D-7** / 푸시 + SMS / 높음 / 시설장, 보호자, 해당 전문가 / 1회
• **권한 만료 D-1** / 푸시 + SMS + 카톡 / 긴급 / 시설장, 보호자, 해당 전문가 / 1회
• **인계서 수신** / 푸시 + 이메일 / 높음 / 신규 기관장 + 보호자 / 즉시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0000" y="1800000"/>
            <a:ext cx="540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2D2D2D"/>
                </a:solidFill>
                <a:latin typeface="Malgun Gothic"/>
              </a:rPr>
              <a:t>• **인계서 확인** / 푸시 / 중간 / 보호자 / 즉시
• **신규 일지 등록** / 푸시 / 낮음 / 보호자 (옵션) / 일 1회 다이제스트
• **당사자 동의 행사** / 푸시 / 중간 / 보호자 / 즉시
• **이상 접근 탐지** / 푸시 + SMS / 긴급 / 보호자, 관리자 / 즉시
• **마이그레이션 완료** / 푸시 + 이메일 / 중간 / 보호자 / 1회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PRD v2.4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51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§9. 보완 — 알림 시스템 설계 · 9.1 알림 분류 매트릭스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990000"/>
            <a:ext cx="11472119" cy="3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algun Gothic"/>
              </a:rPr>
              <a:t>9.1 알림 분류 매트릭스 (계속 2/2)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**결제 예고** / 이메일 / 중간 / 시설장 / D-7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PRD v2.4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52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§9. 보완 — 알림 시스템 설계 · 9.2 알림 피로(Fatigue) 방지 정책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**다이제스트 모드**: 신규 일지 등록은 기본 "하루 1번 요약"
• **수신 시간 존중**: 22:00~07:00 무음 (긴급 알림 제외)
• **채널 우선순위**: 푸시 → 이메일 → SMS 순으로 폴백
• **수신 확인 시 중복 차단**: 동일 알림 다른 채널에서 읽음 처리 시 자동 취소
• **알림 설정 GUI**: 사용자별 유형·채널·시간대 토글 가능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PRD v2.4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53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§9. 보완 — 알림 시스템 설계 · 9.3 알림 톤 &amp; 카피 (당사자 vs 보호자 vs 전문가)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알림 / 보호자용 / 당사자용 (쉬운말) / 전문가용
• 권한 만료 D-7 / "이수진 활동지원사의 권한이 7일 후 종료됩니다. 갱신할까요?" / (받지 않음) / "민지님 담당 권한이 7일 후 만료됩니다. 시설장에게 갱신 요청하세요."
• 신규 일지 / "오늘 민지님의 일지 3건이 새로 올라왔어요" / "이수진 선생님이 오늘 일을 적어줬어요. 볼까요?" / (본인 작성이므로 알림 없음)
• 인계서 수신 / "○○복지관에서 인계서를 수령했습니다. 확인해주세요." / "민지님의 기록을 새 선생님이 받았어요" / "신규 이용자 인계서 1건이 도착했습니다."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PRD v2.4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54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§9. 보완 — 알림 시스템 설계 · 9.4 신규 FR (알림)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FR# / 요구사항 / 우선순위
• FR-35 / 권한 만료 D-30/D-7/D-1 3단 자동 알림 / P0
• FR-36 / 다채널 알림 + 읽음 처리 시 중복 채널 자동 취소 / P0
• FR-37 / 다이제스트 모드 (일/주 단위 요약 알림) / P1
• FR-38 / 알림 설정 GUI (사용자별 유형/채널/시간 토글) / P0
• FR-39 / 당사자/보호자/전문가별 알림 카피 자동 분기 / P1
• ---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PRD v2.4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55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§10. 보완 — 인지 접근성 (Cognitive Accessibility) 심화 · 10.1 v1.0 한계 진단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v1.0 NFR-05는 "색약/저시력"만 명시. 인지 접근성(쉬운말, 반복 확인, 실수 회복, 주의 분산 방지)은 미정의 → v2에서 보강.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PRD v2.4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56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§10. 보완 — 인지 접근성 (Cognitive Accessibility) 심화 · 10.2 인지 접근성 5대 원칙 (한국형 발달장애인 웹접근성 지침 + WCAG 2.1 Cognitive)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990000"/>
            <a:ext cx="11472119" cy="3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algun Gothic"/>
              </a:rPr>
              <a:t>10.2 인지 접근성 5대 원칙 (한국형 발달장애인 웹접근성 지침 + WCAG 2.1 Cognitive) (계속 1/3)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1800000"/>
            <a:ext cx="540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2D2D2D"/>
                </a:solidFill>
                <a:latin typeface="Malgun Gothic"/>
              </a:rPr>
              <a:t>• 원칙 1. 쉬운말 (Easy-to-Read) 모드 전역 지원
• 항목 / 기준
• 어휘 / 초등 2학년 수준 어휘 (한국어 기초 1,500어휘 내)
• 문장 길이 / 최대 15음절
• 한자/외래어 / 0건 (모두 한글 풀어쓰기)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0000" y="1800000"/>
            <a:ext cx="540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2D2D2D"/>
                </a:solidFill>
                <a:latin typeface="Malgun Gothic"/>
              </a:rPr>
              <a:t>• 픽토그램 동반 / 모든 핵심 동작 버튼은 픽토그램 + 글자 병기
• 음성 안내 / 모든 텍스트는 TTS로 들을 수 있음
• **예시**:
• 일반 모드 / 쉬운말 모드
• "권한 이양에 동의하시겠습니까?" / "선생님이 내 일기를 볼 수 있게 해줄까요? (그림 + 음성)"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PRD v2.4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57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§10. 보완 — 인지 접근성 (Cognitive Accessibility) 심화 · 10.2 인지 접근성 5대 원칙 (한국형 발달장애인 웹접근성 지침 + WCAG 2.1 Cognitive)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990000"/>
            <a:ext cx="11472119" cy="3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algun Gothic"/>
              </a:rPr>
              <a:t>10.2 인지 접근성 5대 원칙 (한국형 발달장애인 웹접근성 지침 + WCAG 2.1 Cognitive) (계속 2/3)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1800000"/>
            <a:ext cx="540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2D2D2D"/>
                </a:solidFill>
                <a:latin typeface="Malgun Gothic"/>
              </a:rPr>
              <a:t>• "민감정보 처리 동의" / "내 비밀 이야기를 보여줄게요. 괜찮을까요?"
• "오류가 발생했습니다" / "다시 한 번 해볼게요"
• 원칙 2. 반복 확인 UI (Double-Confirm)
• 모든 비가역 행동(삭제·권한 해지·동의·전송)은 2단계 확인 필수
• 1단계: 행동 카드 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0000" y="1800000"/>
            <a:ext cx="540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2D2D2D"/>
                </a:solidFill>
                <a:latin typeface="Malgun Gothic"/>
              </a:rPr>
              <a:t>• 2단계: "정말로 할까요? — [네/아니오]" 모달 (3초 후 자동 닫힘 없음)
• 원칙 3. 실수 회복 (Undo) 항상 노출
• 모든 화면 좌상단 [되돌리기] 큰 버튼
• 최근 10개 행동까지 되돌리기 가능
• 영구 삭제도 30일 휴지통 보존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PRD v2.4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58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§10. 보완 — 인지 접근성 (Cognitive Accessibility) 심화 · 10.2 인지 접근성 5대 원칙 (한국형 발달장애인 웹접근성 지침 + WCAG 2.1 Cognitive)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990000"/>
            <a:ext cx="11472119" cy="3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algun Gothic"/>
              </a:rPr>
              <a:t>10.2 인지 접근성 5대 원칙 (한국형 발달장애인 웹접근성 지침 + WCAG 2.1 Cognitive) (계속 3/3)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원칙 4. 주의 분산 방지
• 동시에 떠 있는 모달/팝업 1개만 허용
• 자동재생 영상 금지, 깜박이는 광고/배너 0개
• 한 화면에 CTA(주요 행동 버튼) 1~2개만
• 원칙 5. 시간 압박 제거
• 자동 로그아웃 시간 30분 (일반 5분의 6배) — 당사자 모드 시
• 폼 입력 자동 저장 (Draft) 매 키스트로크
• "X초 안에 답하세요" 타이머 일체 금지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PRD v2.4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59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§10. 보완 — 인지 접근성 (Cognitive Accessibility) 심화 · 10.3 인지 접근성 검증 도구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**사용성 테스트**: 발달장애 당사자 자문단 5명 분기별 평가
• **자동 검사**: WCAG 2.1 AA + 한국형 웹접근성 지침 + 자체 "쉬운말 어휘 검사기"
• **인증**: 한국웹접근성평가센터 인증 + 보건복지부 정보접근성 인증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PRD v2.4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60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§10. 보완 — 인지 접근성 (Cognitive Accessibility) 심화 · 10.4 신규 FR/NFR (인지 접근성)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FR/NFR# / 요구사항 / 우선순위
• FR-40 / 쉬운말 모드 전역 토글 (어휘/문장/픽토그램/TTS 동시 적용) / P0
• FR-41 / 모든 비가역 행동에 2단계 확인 UI 의무 / P0
• FR-42 / 30일 휴지통 + 10개 행동 되돌리기 / P1
• NFR-09 / 한국웹접근성 인증 + 보건복지부 정보접근성 인증 18개월 내 취득 / P0
• NFR-10 / 발달장애 당사자 자문단 5인 분기별 사용성 평가 의무 / P1
• ---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PRD v2.4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61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§11. 보완 — 데이터 내보내기 (Export) · 11.1 내보내기 시나리오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시나리오 / 형식 / 사용 사례
• **개인 보관용 전체 백업** / ZIP (PDF + 이미지 + JSON) / 자녀 18세 권한 이행 시 보호자가 종합 사본 보관
• **인계서 단건 출력** / PDF (A4 / Letter) / 신규 기관에 전달
• **분기 활동 리포트** / 엑셀 (.xlsx) / 사회복지사 케이스 보고서 작성
• **개인정보 이동권 행사** / JSON (표준 스키마) / GDPR/개정 개인정보법 §35의2 데이터 이동권
• **타임라인 인쇄용** / PDF (선택 기간) / 부모 회의·진단 의뢰서 첨부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PRD v2.4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62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§11. 보완 — 데이터 내보내기 (Export) · 11.2 내보내기 옵션 매트릭스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옵션 / PDF 인계서 / 엑셀 리포트 / ZIP 전체 백업 / JSON 이동권
• 기간 선택 / O (3개월 기본) / O / O (전체) / O
• 카테고리 필터 / O / O / X / X
• 사진 포함 / O (썸네일) / X / O (원본) / O (Base64)
• 음성 파일 포함 / X / X / O / O
• 익명화 옵션 / X / O / X / X
• 비밀번호 보호 / O / X / O / X
• 처리 시간 (1만건) / 즉시 / 5분 / 1시간 (백그라운드) / 30분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PRD v2.4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63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§11. 보완 — 데이터 내보내기 (Export) · 11.3 다운로드 UX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**소량 즉시 다운로드**: PDF는 즉시 브라우저 다운로드
• **대량 백그라운드 처리**: ZIP/JSON은 작업 큐 → 완료 시 이메일 + 7일 다운로드 링크
• **암호화 권장**: ZIP/JSON 다운로드 시 비밀번호 설정 유도 + 강도 검사
• **감사 로그**: 모든 내보내기 행동은 5년 보존, 보호자/당사자에게 알림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PRD v2.4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64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§11. 보완 — 데이터 내보내기 (Export) · 11.4 신규 FR (내보내기)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FR# / 요구사항 / 우선순위
• FR-43 / 인계서 PDF 즉시 출력 (A4, 비밀번호 옵션) / P0
• FR-44 / 분기 활동 엑셀 리포트 (카테고리 필터 + 익명화 옵션) / P1
• FR-45 / 전체 ZIP 백업 (백그라운드 처리 + 7일 다운로드 링크) / P1
• FR-46 / 개인정보 이동권 JSON 내보내기 (표준 스키마) / P0
• FR-47 / 모든 내보내기 행동 감사 로그 + 보호자 알림 / P0
• ---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PRD v2.4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65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§12. v2.2 통합 요약 (v2.0 + v2.1 + v2.2 누적) · 12.1 신규 FR/NFR 총 59건 + NFR 2건 (v2.4 누적)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990000"/>
            <a:ext cx="11472119" cy="3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algun Gothic"/>
              </a:rPr>
              <a:t>12.1 신규 FR/NFR 총 59건 + NFR 2건 (v2.4 누적) (계속 1/3)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1800000"/>
            <a:ext cx="540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2D2D2D"/>
                </a:solidFill>
                <a:latin typeface="Malgun Gothic"/>
              </a:rPr>
              <a:t>• 영역 / FR 개수 / 우선순위 P0 / P1 / P2 / 출처
• 당사자 모드 (§6.1) / 4 / 3 / 1 / 0 / v2.0
• 시설장 모드 (§6.2) / 4 / 2 / 1 / 1 / v2.0
• 온보딩 (§7) / 5 / 4 / 1 / 0 / v2.0
• 오프라인 (§8) / 5 / 4 / 1 / 0 / v2.0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0000" y="1800000"/>
            <a:ext cx="540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2D2D2D"/>
                </a:solidFill>
                <a:latin typeface="Malgun Gothic"/>
              </a:rPr>
              <a:t>• 알림 (§9) / 5 / 3 / 2 / 0 / v2.0
• 인지 접근성 (§10) / 3 + NFR 2 / 2 + 1 / 1 + 1 / 0 / v2.0
• 내보내기 (§11) / 5 / 3 / 2 / 0 / v2.0
• 18세 이양 (§15) / 5 / 3 / 2 / 0 / v2.1
• 케이스 회의 자료 (§16) / 1 / 1 / 0 / 0 / v2.1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PRD v2.4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66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§12. v2.2 통합 요약 (v2.0 + v2.1 + v2.2 누적) · 12.1 신규 FR/NFR 총 59건 + NFR 2건 (v2.4 누적)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990000"/>
            <a:ext cx="11472119" cy="3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algun Gothic"/>
              </a:rPr>
              <a:t>12.1 신규 FR/NFR 총 59건 + NFR 2건 (v2.4 누적) (계속 2/3)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1800000"/>
            <a:ext cx="540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2D2D2D"/>
                </a:solidFill>
                <a:latin typeface="Malgun Gothic"/>
              </a:rPr>
              <a:t>• B2B 결제·B2G 청구 (§17) / 5 / 3 / 2 / 0 / v2.1
• 후견 모드 (§18) / 3 / 2 / 1 / 0 / v2.1
• **자가진단 도구 (§20)** / **7** / **4** / **2** / **1** / **v2.2**
• **다중 입력 모드 (§21)** ⭐ / **7** (FR-69·69a~f, FR-71) / **4** / **2** / **1** / **v2.4**
• **U6 일반교사 페르소나 (§3.7)** ⭐ / **2** (FR-72,73) / **2** / **0** / **0** / **v2.4**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0000" y="1800000"/>
            <a:ext cx="540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2D2D2D"/>
                </a:solidFill>
                <a:latin typeface="Malgun Gothic"/>
              </a:rPr>
              <a:t>• **보호자 자조 모임 (§22)** ⭐ / **10** (FR-74~83, NFR-C01~05 포함) / **6** / **3** / **0** / **v2.5**
• ~~**합계 (v2.2 누적, v1.0 16건 별도)**~~ / ~~**52 + NFR 2**~~ / — / — / — / —
• **합계 (v2.4 누적, v1.0 16건 별도)** / 59 + NFR 2 / 38 + 1 / 17 + 1 / 3 / —
• **합계 (v2.5 누적, v1.0 16건 별도)** ⭐ / **69 + NFR 3** / **46 + 2** / **18 + 1** / **3** / —
• ~~누계 (v1.0 FR-01~16 포함)~~ / ~~FR-01 ~ FR-68 (68건)~~ / — / — / — / —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PRD v2.4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67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§12. v2.2 통합 요약 (v2.0 + v2.1 + v2.2 누적) · 12.1 신규 FR/NFR 총 59건 + NFR 2건 (v2.4 누적)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990000"/>
            <a:ext cx="11472119" cy="3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algun Gothic"/>
              </a:rPr>
              <a:t>12.1 신규 FR/NFR 총 59건 + NFR 2건 (v2.4 누적) (계속 3/3)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~~누계 (v1.0 FR-01~16 + v2.4 추가)~~ / ~~FR-01 ~ FR-73 (75건)~~ / — / — / — / —
• **누계 (v1.0 FR-01~16 + v2.4 + v2.5 추가)** ⭐ / **FR-01 ~ FR-83 (85건)** / — / — / — / —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PRD v2.4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68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§12. v2.2 통합 요약 (v2.0 + v2.1 + v2.2 누적) · 12.1.1 v2.2 신규 FR 7건 우선순위 매핑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FR# / 내용 / P / 마일스톤
• FR-62 / K-DST 영유아 정기 자가진단 (8단계) / P0 / MVP Beta
• FR-63 / M-CHAT-R 자폐 선별 검사 / P0 / MVP Beta
• FR-64 / 자기결정능력 자가체크 (AIR-SDS, 18세 이양 §15 연동) / P1 / GA 1.0
• FR-65 / 자립생활 능력 분기 평가 (K-SIB-R, 회의자료 §16 입력) / P1 / v1.1
• FR-66 / 적응행동 연간 평가 (VABS-3) / P2 / v1.1
• FR-67 / **AI 추이 분석** — 시계열 + LLM 인사이트 / P0 / MVP Beta
• FR-68 / **의료법 안전 면책 표기** — 모든 화면·PDF / P0 (法的 必須) / MVP Beta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PRD v2.4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69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§12. v2.2 통합 요약 (v2.0 + v2.1 + v2.2 누적) · 12.2 통합 테스트 시나리오 (v2.0 + v2.1)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990000"/>
            <a:ext cx="11472119" cy="3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algun Gothic"/>
              </a:rPr>
              <a:t>12.2 통합 테스트 시나리오 (v2.0 + v2.1) (계속 1/2)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1800000"/>
            <a:ext cx="540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2D2D2D"/>
                </a:solidFill>
                <a:latin typeface="Malgun Gothic"/>
              </a:rPr>
              <a:t>• v2.0 시나리오
• TC# / 대상 / 시나리오 / 기대 결과
• TC-09 / FR-25 / 신규 보호자 가입 → 7단계 완주 / 1시간 내 First Value(인계서 샘플 PDF) 달성
• TC-10 / FR-30~32 / 비행기 모드 활성 → 음성 일지 3건 → 비행기 모드 해제 / 자동 동기화 완료 + 충돌 없음
• TC-11 / FR-35 / 활동지원사 권한 만료 7일 전 도래 / 시설장+보호자에게 푸시+SMS 발송, 읽음 시 중복 채널 취소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0000" y="1800000"/>
            <a:ext cx="540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2D2D2D"/>
                </a:solidFill>
                <a:latin typeface="Malgun Gothic"/>
              </a:rPr>
              <a:t>• TC-12 / FR-40 / 쉬운말 모드 ON → 모든 텍스트 검사 / 한자 0건, 문장 평균 15음절 이하, 픽토그램 100% 동반
• TC-13 / FR-17,18 / 당사자 모드 동의 화면 → 한 번 더 확인 누락 시 / 회귀 테스트 실패, 자동 차단
• TC-14 / FR-43,46 / 보호자가 ZIP 백업 + JSON 이동권 동시 요청 / 백그라운드 처리, 24h 내 이메일 통보 + 감사 로그 기록
• TC-15 / FR-21,22 / 시설장이 활동지원사 3명 권한 일괄 갱신 / "이용자 8명 영향" 미리보기 표시, 갱신 후 보호자 자동 알림
• v2.1 신규 시나리오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PRD v2.4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70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§12. v2.2 통합 요약 (v2.0 + v2.1 + v2.2 누적) · 12.2 통합 테스트 시나리오 (v2.0 + v2.1)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990000"/>
            <a:ext cx="11472119" cy="3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algun Gothic"/>
              </a:rPr>
              <a:t>12.2 통합 테스트 시나리오 (v2.0 + v2.1) (계속 2/2)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1800000"/>
            <a:ext cx="540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2D2D2D"/>
                </a:solidFill>
                <a:latin typeface="Malgun Gothic"/>
              </a:rPr>
              <a:t>• TC# / 대상 / 시나리오 / 기대 결과
• **TC-16** / FR-48,51,52 / 자녀 만 18세 D-180일 도달 → D-0 도달까지 6개월 시뮬레이션 / 단계별 알림 발송 + 모의 동의 시뮬레이션 노출 + D-0 권한 모델 자동 전환
• **TC-17** / FR-49 / 모의 동의 시뮬레이션 (의료·식사·AAC 3종 × 3회) / 자녀가 가상 카드로 동의/거부 연습, 결과 로그 보호자에게 다이제스트 전달
• **TC-18** / FR-53 / 사회복지사가 케이스 1건의 회의 자료 PDF 생성 / 3분 내 4영역 자동 추출 + 권한 범위 외 데이터 자동 제외 + 만료 링크(7일) 발급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0000" y="1800000"/>
            <a:ext cx="540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2D2D2D"/>
                </a:solidFill>
                <a:latin typeface="Malgun Gothic"/>
              </a:rPr>
              <a:t>• **TC-19** / FR-54,57 / 시설장이 사업자 카드로 첫 결제 / 결제 성공 + 전자세금계산서 자동 발행 (국세청 e-Tax 형식 검증)
• **TC-20** / FR-55 / 시설장 결제 카드 만료 → 결제 실패 → D+1/D+3/D+7 재시도 / 시설장에게 다채널 알림 + D+10 서비스 일시 중지 + 데이터 30일 보존
• **TC-21** / FR-56 / 분기말 B2G 바우처 청구서 자동 생성 / 대상 이용자 자동 식별 + 인계서 7건 첨부 PDF + 시설장 검토 모달
• **TC-22** / FR-59,60 / 후견 결정문(성년후견) 업로드 → 권한 모델 검증 / OCR 자동 추출 + 법원 등기 ID 검증 + 전 영역 후견인 권한 자동 적용
• **TC-23** / FR-61 / 한정후견 모드에서 의료 행위 발생 / 후견인 1순위 알림 + 본인 의견 청취 AAC 화면 + 보호자 통지 (3자 동의 로그)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PRD v2.4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71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§12. v2.2 통합 요약 (v2.0 + v2.1 + v2.2 누적) · 12.3 v2.1 통합 마일스톤 (FR-01~FR-61 누계)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단계 / 기간 / v1.0 범위 / v2.0 추가 범위 / **v2.1 추가 범위**
• **PoC** / M1-M2 / STT/AI 정확도 / + 오프라인 동기화 PoC (FR-30,31) / + 대법원 가족관계등록 검증 API PoC (FR-59 사전)
• **MVP (Beta)** / M3-M6 / v1.0 FR-01,02,05,06,08,09,11,13,14,15 / + FR-17,18,19,25,26,30,32,35,40,43 / (v2.1은 GA 1.0부터 본격 진입)
• **GA 1.0** / M7-M12 / v1.0 + B2B 결제 / + FR-21,22, + FR-28,33,36,38,41,46,47 / **+ FR-48,49,51,52 (18세 이양 P0), + FR-53 (케이스 회의), + FR-54,55,57 (B2B 결제 P0), + FR-59,60 (후견 P0)**
• **v1.1** / M13-M18 / 학령기 IEP 연동 / + FR-23,27,31,37,42,44,45 / **+ FR-50 (변호사 상담), + FR-56 (B2G 청구), + FR-58 (구독 변경/환불), + FR-61 (후견 3자 동의), + 행복e음·NEIS 연동 (§19)**
• **v2.0** / M19-M24 / IoT/PHR 연동 / + FR-24,34,39 / + 국민건강보험 API 연동 (§19)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PRD v2.4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72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§12. v2.2 통합 요약 (v2.0 + v2.1 + v2.2 누적) · 12.4 v2.1 Pre-mortem 추가 리스크 (Risk #7~#9)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990000"/>
            <a:ext cx="11472119" cy="3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algun Gothic"/>
              </a:rPr>
              <a:t>12.4 v2.1 Pre-mortem 추가 리스크 (Risk #7~#9) (계속 1/4)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1800000"/>
            <a:ext cx="540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2D2D2D"/>
                </a:solidFill>
                <a:latin typeface="Malgun Gothic"/>
              </a:rPr>
              <a:t>• Risk #4.
• 신규 보호자가 마이그레이션 중 이탈 (v2.0) **가상**: 보호자가 카톡 사진 1만장 업로드 후 AI 분류 결과의 오류를 보고 "AI 못 믿겠다" 이탈.
• **대응**: First Value를 사진 마이그레이션 이전에 배치 (Step 3까지 완주 시 인계서 샘플 즉시 제공), 분류 정확도 70% 보장 명시 + 보호자 직접 정정 UI 강화.
• Risk #5.
• 알림 피로로 인한 무음 처리 → 권한 만료 사고 (v2.0) **가상**: 보호자가 일지 알림 폭주로 전체 알림 OFF → 권한 만료 D-1 알림도 미수신 → 활동지원사 데이터 접근 차단으로 입소 일정 차질.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0000" y="1800000"/>
            <a:ext cx="540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2D2D2D"/>
                </a:solidFill>
                <a:latin typeface="Malgun Gothic"/>
              </a:rPr>
              <a:t>• **대응**: 알림 유형별 분리 토글 강제 (전체 OFF 옵션 없음, "중요 알림은 항상 ON" 가이드), 만료 D-1은 SMS+카톡 다중 채널 필수.
• Risk #6.
• 시설장 일괄 권한 갱신 실수 (v2.0) **가상**: 시설장이 5명 활동지원사 권한을 6개월로 갱신해야 하는데 실수로 1개월 선택 → 한 달 후 일괄 만료.
• **대응**: 일괄 갱신 전 "영향 범위 + 갱신 결과 만료일" 명확 미리보기, 시설장 행동 30일 내 1회 일괄 되돌리기 가능.
• **Risk #7.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PRD v2.4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73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§12. v2.2 통합 요약 (v2.0 + v2.1 + v2.2 누적) · 12.4 v2.1 Pre-mortem 추가 리스크 (Risk #7~#9)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990000"/>
            <a:ext cx="11472119" cy="3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algun Gothic"/>
              </a:rPr>
              <a:t>12.4 v2.1 Pre-mortem 추가 리스크 (Risk #7~#9) (계속 2/4)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1800000"/>
            <a:ext cx="540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2D2D2D"/>
                </a:solidFill>
                <a:latin typeface="Malgun Gothic"/>
              </a:rPr>
              <a:t>• 18세 권한 이양 절차 오류 → 자립 사고 (v2.1, 확률 중간 / 영향 긴급)** **가상**: D-0 도래 시 권한 모델 자동 전환이 실패해 자녀가 자기 데이터에 접근 못 함 → 의료 응급 상황에서 보호자 권한도 만료 → 응급 의료 결정 공백.
• **대응**: FR-52에 **D+30 정착 점검 + 응급 권한 잔존 (보호자 의료 알림 수신권 30일 유지)** 명시.
• D-0 자동 전환 전 D-7부터 "최종 확인 모달" 다중 채널.
• 전환 실패 시 자동 롤백 + 법무 자문 핫라인.
• **Risk #8.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0000" y="1800000"/>
            <a:ext cx="540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2D2D2D"/>
                </a:solidFill>
                <a:latin typeface="Malgun Gothic"/>
              </a:rPr>
              <a:t>• B2G 청구 오류로 시설 운영 손실 (v2.1, 확률 중간 / 영향 높음)** **가상**: FR-56의 분기 청구서가 잘못된 이용자를 대상으로 생성되어 시설장이 검토 없이 제출 → 보건복지부 환수 통보 + 시설 신뢰도 타격.
• **대응**: 청구서 발행 전 **시설장 검토 모달 의무화** (자동 발행 금지), 청구 대상자 미리보기 + 보호자 동의 상태 자동 점검 + 환수 발생 시 영업팀 자동 알림 + 분기 1회 PoC로 정확도 95%+ 도달 시까지 수동 청구 병행.
• **Risk #9.
• 후견 결정문 검증 실패로 권한 부정 사용 (v2.1, 확률 낮음 / 영향 긴급)** **가상**: 대법원 가족관계등록 검증 API가 일시 중단되어 FR-59의 자동 검증을 통과한 위조 결정문이 권한 부여로 이어짐 → 본인 의사에 반하는 의료·재산 결정.
• **대응**: 검증 실패 시 **기본값 = 일반 보호자 권한** (후견 권한 미활성), 검증 성공 후에도 **D+7 보호자(가족)·당사자 모두에게 후견 등록 알림 발송** + 이의 제기 30일 채널 + 분기 샘플링 수동 재검증.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PRD v2.4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74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§12. v2.2 통합 요약 (v2.0 + v2.1 + v2.2 누적) · 12.4 v2.1 Pre-mortem 추가 리스크 (Risk #7~#9)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990000"/>
            <a:ext cx="11472119" cy="3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algun Gothic"/>
              </a:rPr>
              <a:t>12.4 v2.1 Pre-mortem 추가 리스크 (Risk #7~#9) (계속 3/4)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1800000"/>
            <a:ext cx="540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2D2D2D"/>
                </a:solidFill>
                <a:latin typeface="Malgun Gothic"/>
              </a:rPr>
              <a:t>• **Risk #10.
• 자가진단을 정식 의료 진단으로 오인 (v2.2, 확률 중간 / 영향 긴급)** **가상**: 보호자가 K-DST 결과를 의료적 진단서로 오해해 자녀 어린이집·학교에 제출 → 무자격 의료 진단 유통 → 의료법 §27 위반 분쟁 + 시설장 신뢰 손상.
• **대응**: FR-68 면책 표기를 모든 결과 화면·PDF에 의무화 (자동 워터마크), "이 문서를 의료적 진단 용도로 사용할 수 없습니다" PDF 모든 페이지 표시, 보건복지부 의료법 자문 위촉(M3 이전), 분기 1회 LLM 출력 감사.
• **Risk #11.
• AI 추이 분석 오해석으로 부적절한 의사결정 (v2.2, 확률 중간 / 영향 높음)** **가상**: AI가 단일 도메인 변동(우연한 응답 누락)을 "급격한 하락"으로 잘못 해석 → 보호자가 자녀를 부적절한 치료에 노출.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0000" y="1800000"/>
            <a:ext cx="540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2D2D2D"/>
                </a:solidFill>
                <a:latin typeface="Malgun Gothic"/>
              </a:rPr>
              <a:t>• **대응**: 추이 분석은 **최소 3회 이상 데이터 누적 시에만 활성화** (2회 이하는 "데이터 부족" 안내), 인사이트는 항상 "전문가 상담 권장" 문구 동반, 보호자 피드백 분기 만족도 측정.
• **Risk #12.
• 정부 정책 변화로 B2G 청구 모델 무효화 (v2.3, 확률 중간 / 영향 긴급)** **가상**: 발달장애인 권리보장법 개정 또는 발달재활서비스 바우처 정책 폐지·축소 시 B2G 청구 매출 (32억/3년) 가설 무효화.
• 또는 디지털 인계서가 법정 양식으로 인정받지 못해 종이 양식 병용 강제.
• **대응**:.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PRD v2.4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75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§12. v2.2 통합 요약 (v2.0 + v2.1 + v2.2 누적) · 12.4 v2.1 Pre-mortem 추가 리스크 (Risk #7~#9)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990000"/>
            <a:ext cx="11472119" cy="3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algun Gothic"/>
              </a:rPr>
              <a:t>12.4 v2.1 Pre-mortem 추가 리스크 (Risk #7~#9) (계속 4/4)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보건복지부 정책 모니터링 위원 위촉 (분기 1회 정책 변화 보고)
• 본 PRD에 시나리오 매트릭스 추가 (낙관·중립·비관 3 시나리오별 대응 액션)
• B2C (Personal Plus) + B2B (Facility) 매출 비중을 50:30:20 (B2C·B2B·B2G)로 분산 — 단일 의존성 해소
• 디지털 인계서가 법정 양식 미인정 시 보호자 다운로드 + 종이 양식 자동 변환 옵션 제공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PRD v2.4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76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§12. v2.2 통합 요약 (v2.0 + v2.1 + v2.2 누적) · 12.5 v2.3 신규 — NFR 보강 (침투 테스트 일정)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990000"/>
            <a:ext cx="11472119" cy="3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algun Gothic"/>
              </a:rPr>
              <a:t>12.5 v2.3 신규 — NFR 보강 (침투 테스트 일정) (계속 1/2)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1800000"/>
            <a:ext cx="540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2D2D2D"/>
                </a:solidFill>
                <a:latin typeface="Malgun Gothic"/>
              </a:rPr>
              <a:t>• CTO팀 Security &amp; Compliance 권고 — NFR-03 침투 테스트 일정 명시화
• NFR-03 보강: 보안 침투 테스트 일정
• 시점 / 대상 / 외부 기관 / 비용 (예상)
• **M5 W4 (Beta 직전)** / Web + API + DB / KISA 위촉 외부 (한국정보보호산업협회 추천) / 약 1,500만원
• **M6 W4 (Beta 운영 후 +2주)** / 운영 환경 재테스트 + 발견 결함 재검증 / 동일 기관 (연속성) / 약 800만원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0000" y="1800000"/>
            <a:ext cx="540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2D2D2D"/>
                </a:solidFill>
                <a:latin typeface="Malgun Gothic"/>
              </a:rPr>
              <a:t>• **GA 1.0 (M12)** / 정식 ISMS-P 인증 + 침투 테스트 / KISA 정식 인증 / 약 3,000만원
• **연 2회 정기** / 운영 환경 / 동일 또는 신규 위촉 / 약 5,000만원/년
• 침투 테스트 범위 (OWASP Top 10 + 한국 특화)
• 인증·세션 관리 (PASS·카카오 OAuth)
• 권한 우회 (5×20 매트릭스 → 100셀 자동 검사)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PRD v2.4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77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§12. v2.2 통합 요약 (v2.0 + v2.1 + v2.2 누적) · 12.5 v2.3 신규 — NFR 보강 (침투 테스트 일정)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990000"/>
            <a:ext cx="11472119" cy="3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algun Gothic"/>
              </a:rPr>
              <a:t>12.5 v2.3 신규 — NFR 보강 (침투 테스트 일정) (계속 2/2)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의료법 면책 워터마크 우회 (PDF 변조 시도)
• LLM Prompt Injection (자가진단 응답 텍스트 조작)
• 후견 결정문 위변조 검증 우회
• Audit Log 위변조 시도
• 마이그레이션 파일 (카톡 zip) Malware 검사
• 오프라인 큐 (IndexedDB) 암호화 우회
• ---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PRD v2.4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78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§13. 다음 단계 (v2.1 기준) · 13.1 즉시 후속 작업 (이번 PM 세션 산출물)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1.
• **`docs/00-pm/recordare-ux-structure.md`** — 퍼블릭 랜딩 페이지 + 5종 사용자별 로그인 후 화면 구성안 (v1.0) 2.
• **`docs/00-pm/recordare-workflows.md`** — 5종 사용자 × 18종 단위업무 워크플로우 정의서 (v2.1 신규) 3.
• **`/pdca plan Recordare`** — v1.0 + v2.0 + **v2.1** PRD + workflows를 함께 참조하여 Plan 단계 진입.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PRD v2.4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79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§13. 다음 단계 (v2.1 기준) · 13.2 PoC 우선순위 (v2.1 갱신)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540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2D2D2D"/>
                </a:solidFill>
                <a:latin typeface="Malgun Gothic"/>
              </a:rPr>
              <a:t>• 우선순위 / PoC / 기간 / 출처
• ~~1~~ / ~~E1. STT 한국어 비표준 발화 정확도~~ → **v2.4 폐기** (STT 자체 통합 폐기, §21 참조) / ~~4주~~ / ~~v1.0~~
• **1 (v2.4 신규)** / **E1' 빠른 선택 UI 적합성 PoC** (시범 시설 3곳 + 활동지원사 10명 + 4주 사용성 평가) / **2주** / **v2.4**
• 2 / E4. 오프라인 큐 → 동기화 안정성 / 3주 / v2.0
• 3 / E2. 보호자 권한 이행 수용성 인터뷰 / 8주 / v1.0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0000" y="1800000"/>
            <a:ext cx="540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2D2D2D"/>
                </a:solidFill>
                <a:latin typeface="Malgun Gothic"/>
              </a:rPr>
              <a:t>• 4 / E5. 신규 보호자 마이그레이션 First Value 1시간 도달률 / 4주 / v2.0
• 5 / **E6. 대법원 가족관계등록 검증 API 가용성/응답시간 (FR-59 사전)** / **3주** / **v2.1**
• 6 / E3. 시설 가격 민감도 / 6주 / v1.0
• 7 / **E7. B2G 사회서비스 바우처 청구 자동화 PoC — 시범 시설 3곳 분기 청구 (FR-56)** / **8주** / **v2.1**
• 8 / **E8. 18세 이양 6개월 가이드 사용성 — 가족 5쌍 동행 시뮬레이션 (FR-48~52)** / **6주** / **v2.1**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PRD v2.4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80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§13. 다음 단계 (v2.1 기준) · 13.3 컴플라이언스 확인 항목 (v2.1 갱신)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개정 개인정보보호법 §35의2 데이터 이동권 (JSON 내보내기) 적합성
• 한국웹접근성 + 보건복지부 정보접근성 인증 절차 확인
• 마이그레이션 시 카톡 백업 zip 파일 처리에 대한 카카오 약관 검토
• **(v2.1)** 한국 민법 §938~§959 후견 제도 — 후견 결정문 인정 범위, 의견청취 의무 (§947) 시스템 반영 검증
• **(v2.1)** 전자상거래법 — 7일 청약철회권 (FR-58)
• **(v2.1)** 전자세금계산서법 — 5년 보존 (FR-57, FR-47 통합)
• **(v2.1)** 사회보장정보시스템(행복e음) 외부 연동 시 보건복지부 정보보호 인증 절차 (v1.1 사전 준비)
• ---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PRD v2.4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81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§15. v2.1 신규 — 18세 권한 이양 (Adulthood Transition) · 15.1 배경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v1.0/v2.0은 "권한 이행"을 언급했으나 **만 18세 시점의 단계적 이양 절차에 대한 명시 FR이 없었음**. workflows §B12/§A1.4의 6개월 가이드를 정식 FR로 흡수.
• **WHY 이게 중요한가**: 보건복지부 자립지원 통계상, 권한 이양 절차가 없는 가정의 자녀는 만 19세 이후 시설 재진입율이 35% 더 높다. 이 단계는 자립 성공의 단일 최대 분기점.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PRD v2.4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82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§15. v2.1 신규 — 18세 권한 이양 (Adulthood Transition) · 15.2 6개월 단계적 이양 타임라인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540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2D2D2D"/>
                </a:solidFill>
                <a:latin typeface="Malgun Gothic"/>
              </a:rPr>
              <a:t>• D-X / 시스템 행동 / 사용자 행동 (U1/U2) / 산출물
• **D-180** / 보호자에게 "이양 준비 시작" 가이드 알림 + 자녀 나이 기반 자동 트리거 / U2가 가이드 진입 / 이양 준비 상태 ON
• **D-150** / 모의 동의 시뮬레이션 3회 카드 노출 (의료/식사/AAC) / U1이 가상 동의 연습 (보호자 동행) / 시뮬레이션 완료 로그
• **D-120** / 변호사 무료 상담 예약 슬롯 노출 (제휴) / U2 예약 → 후견 vs 자율 결정 / 상담 완료 보고서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0000" y="1800000"/>
            <a:ext cx="540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2D2D2D"/>
                </a:solidFill>
                <a:latin typeface="Malgun Gothic"/>
              </a:rPr>
              <a:t>• **D-90** / 단계적 이양 시작 — 의료 항목 1개 먼저 / U2가 자녀에게 첫 권한 이양 + 자녀 동의 / 부분 이양 완료
• **D-60** / 식사·행동·정서·학습 카테고리 순차 이양 / 카테고리별 자녀 동의 (FR-18) / 4/5 카테고리 이양
• **D-30** / 모든 권한 메뉴에 [당사자에게 묻기] 버튼 자동 추가 / U2가 매 행동 시 자녀에게 확인 / 의사결정 공동화
• **D-0 (생일)** / 권한 모델 자동 전환 ("보호자 단독" → "공동" or "당사자 단독" or "후견 모드") / 양측 최종 확인 / 새 권한 모델 활성화
• **D+30** / 정착 점검 알림 + 응급 권한 잔존 안내 / 양측 만족도 평가 (1~5점) / 정착율 KPI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PRD v2.4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83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§15. v2.1 신규 — 18세 권한 이양 (Adulthood Transition) · 15.3 신규 FR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FR# / 요구사항 / 우선순위 / 마일스톤
• **FR-48** / 자녀 만 18세 D-180일 자동 트리거 + 보호자 가이드 진입 알림 (시스템 자동) / P0 / GA 1.0 (M7-M12)
• **FR-49** / 모의 동의 시뮬레이션 (D-150, 의료/식사/AAC 3종 가상 카드, 3회 반복 권장) / P1 / GA 1.0
• **FR-50** / 변호사 무료 상담 예약 시스템 (D-120, 제휴 5분 슬롯 노출 + 상담 보고서 PDF 보관) / P1 / v1.1 (M13-M18)
• **FR-51** / 단계적 권한 이양 워크플로우 (D-90→D-60→D-30, 카테고리·항목 단위 부분 이양 + 자녀 동의 FR-18 연동) / P0 / GA 1.0
• **FR-52** / D-0 권한 모델 자동 전환 + 응급 권한 보호자 잔존 (의료 응급 시 30일간 보호자 알림 수신권 유지) + D+30 정착 점검 / P0 / GA 1.0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PRD v2.4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84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§15. v2.1 신규 — 18세 권한 이양 (Adulthood Transition) · 15.4 거부·중단 분기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**자녀 거부 의사 표명** → 절차 일시 정지 → 사회복지사(U4) 자문 자동 연결 (보호자가 가입한 복지관 있을 경우)
• **보호자가 후견 결정 보유** → §18 후견 모드로 전환 (FR-51 절차 우회)
• **자녀 의사 표명 불가 (중증)** → 변호사 상담을 의무화 (FR-50 P0 승격)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PRD v2.4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85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§15. v2.1 신규 — 18세 권한 이양 (Adulthood Transition) · 15.5 측정 KPI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KPI / 목표 / 측정 방법
• 이양 정착율 (D+30 양측 만족 4점 이상) / 90%+ / 자동 만족도 조사
• 단계 완주율 (D-180→D-0 모두 완료) / 70%+ / 단계별 로그 집계
• 응급 권한 사용 빈도 (보호자) / &lt; 5% (월 기준) / 응급 행동 로그
• ---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PRD v2.4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86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§16. v2.1 신규 — 케이스 회의 자료 자동 생성 · 16.1 배경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v1.0/v2.0의 U4(사회복지사·특수교사)는 "데이터 조회"만 정의되었고 **실제 업무 산출물(사례관리 회의 자료)의 자동 생성 흐름이 누락**. workflows §B17의 흐름을 FR로 흡수.
• **WHY 이게 중요한가**: 복지관 사회복지사는 케이스당 분기 1회 회의 자료 작성에 평균 60분 소요. 30케이스 담당 시 분기당 30시간 = 한 주 풀타임 노동. 이를 3분으로 줄이면 본업(상담)에 집중 가능.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PRD v2.4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87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§16. v2.1 신규 — 케이스 회의 자료 자동 생성 · 16.2 워크플로우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[1] U4 "케이스 회의 자료" 진입 → [2] 대상 케이스 선택 (담당 케이스 리스트) → [3] 기간 + 4영역(교육/의료/돌봄/자립) 자동 추출 (권한 범위 마스킹 적용) → [4] AI 요약 — 4영역 각 3문장 + 핵심 사건 5건 + 의료/위험 알림 (3페이지 분량) → [5] U4 검토 + 편집 (수정 권한 = 본인 작성 메모만, AI 추출 사실은 편집 불가) → [6] PDF 생성 + 회의 참석자 안전 공유 (만료 링크, 7일 + 비밀번호 옵션) → [7] 감사 로그 5년 보존 (FR-47 연동) + 보호자에게 회의 자료 생성 알림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PRD v2.4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88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§16. v2.1 신규 — 케이스 회의 자료 자동 생성 · 16.3 신규 FR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FR# / 요구사항 / 우선순위 / 마일스톤
• **FR-53** / 케이스 회의 자료 AI 자동 생성 (4영역 추출 + 3페이지 PDF + 만료 링크 공유, 권한 마스킹 자동 적용) / P0 / GA 1.0 (M7-M12)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PRD v2.4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89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§16. v2.1 신규 — 케이스 회의 자료 자동 생성 · 16.4 제약·정책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**권한 마스킹**: U4의 권한 범위 밖 데이터는 자료에서 자동 제외 + "권한 외 데이터 N건 비공개" 표시
• **편집 제약**: AI가 추출한 사실(일지 인용)은 편집 불가, U4의 해석·소견 메모만 편집 가능 → 사실-해석 분리
• **보호자 사전 검토 옵션**: 보호자가 옵션 ON 시 회의 자료 발행 24h 전 보호자 검토 단계 추가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PRD v2.4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90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§16. v2.1 신규 — 케이스 회의 자료 자동 생성 · 16.5 측정 KPI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KPI / 목표
• 자료 작성 시간 (60분 → X분) / **3분 이하**
• 자료 정확도 (사실 오류율) / &lt; 5% (분기 샘플링)
• 보호자 이의 제기율 (자료 내용 항의) / &lt; 2%
• ---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PRD v2.4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91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§17. v2.1 신규 — B2B 결제 / 구독 / B2G 청구 · 17.1 배경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v1.0 §5.5 GTM에 "B2B 결제" 언급은 있으나 **구체 결제 흐름·B2G 바우처 청구·세금계산서·환불 정책 FR이 전무**. workflows §B18 + §A5.3을 FR로 흡수.
• **WHY 이게 중요한가**: 시설장(U5)이 결제 시스템 부재로 도입 거부 시 핵심 비즈니스 모델(B2B 80% 매출 가설) 붕괴.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PRD v2.4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92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§17. v2.1 신규 — B2B 결제 / 구독 / B2G 청구 · 17.2 결제 모델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플랜 / 대상 / 과금 단위 / 청구 주기
• **Free** / 보호자 개인 / - / -
• **Personal Plus** / 보호자 (활동지원사 ≤3명 초청 시) / 자녀당 월 9,900원 / 월 자동
• **Facility Small** / 시설장 (이용자 30명 이하) / 이용자당 월 12,000원 / 월/연(15% 할인)
• **Facility Standard** / 시설장 (31~80명) / 이용자당 월 9,500원 / 월/연
• **Facility Enterprise** / 시설장 (80명+) / 협의 / 연 계약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PRD v2.4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93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§17. v2.1 신규 — B2B 결제 / 구독 / B2G 청구 · 17.3 신규 FR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FR# / 요구사항 / 우선순위 / 마일스톤
• **FR-54** / 결제 정보 입력 (개인: 카드, B2B: 사업자 카드 + 세금계산서 발행 정보 + 사업자등록증 검증) / P0 / GA 1.0 (M7-M12)
• **FR-55** / 월/연 구독 자동 결제 + 결제 7일 전 이메일 예고 + 결제 실패 시 3회 재시도 + 7일 유예 / P0 / GA 1.0
• **FR-56** / B2G 사회서비스 바우처 분기 청구 — 대상 이용자 자동 식별 + 청구서(인계서 7건 자동 첨부) PDF 생성 / P1 / v1.1 (M13-M18)
• **FR-57** / 영수증·세금계산서 자동 발행 (전자세금계산서 API 연동, 국세청 e-Tax 형식 준수) / P0 / GA 1.0
• **FR-58** / 구독 변경(업/다운그레이드)·일시 정지·환불 정책 — 월 1회 무료 변경, 일시 정지 최대 3개월, 환불은 일할 계산 / P1 / v1.1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PRD v2.4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94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§17. v2.1 신규 — B2B 결제 / 구독 / B2G 청구 · 17.4 정책 디테일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**결제 실패 시**: D+1, D+3, D+7 자동 재시도 → 실패 시 시설장에게 푸시+이메일+SMS, D+10에 서비스 일시 중지 (데이터는 30일 보존)
• **B2G 청구**: 사회서비스 정보시스템(행복e음) 연동은 v1.1로 이연 → MVP에서는 PDF 청구서 수동 제출 지원
• **세금계산서**: 매월 1일 자동 발행, 시설장이 수동 재발행 요청 가능 (최근 6개월 이내)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PRD v2.4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95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§17. v2.1 신규 — B2B 결제 / 구독 / B2G 청구 · 17.5 컴플라이언스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전자상거래법 — 7일 청약철회권 (B2C Personal Plus 가입 후 7일 이내, 사용 이력 없을 시)
• 전자세금계산서법 — 발행일로부터 5년 보존 (FR-47 감사 로그와 통합)
• 부가가치세법 — 면세·과세 구분 (의료 데이터 분리 처리, 법률 자문 필요 영역으로 Plan에 명시)
• ---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PRD v2.4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96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§18. v2.1 신규 — 후견 모드 (Guardianship Mode) · 18.1 배경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v1.0 §3 페르소나에 후견인 등장하지 않음. v2.0 §6.1.1에 후견 결정문 언급되었으나 **후견 유형별 차등 권한 모델이 정의되지 않음**. workflows §A1.4의 분기를 FR로 흡수.
• **WHY 이게 중요한가**: 한국 민법상 후견 결정은 한정/특정/성년 3종이 있고, 각각 권한 범위가 다르다. 차등 권한 미구현 시 자기결정권 침해 또는 보호자 분쟁 발생.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PRD v2.4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97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§18. v2.1 신규 — 후견 모드 (Guardianship Mode) · 18.2 후견 유형별 권한 모델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유형 / 정의 / 본 플랫폼 권한 모델
• **한정후견 (Limited)** / 특정 행위만 후견인 동의 필요 / 의료 + 재산만 후견인 권한 / 나머지 본인 자율
• **특정후견 (Specific)** / 일시적·특정 사안만 후견 / 후견 사안만 후견인 권한 / 나머지 본인+보호자 공동
• **성년후견 (Plenary)** / 전반적 의사결정 능력 결여 / 전 영역 후견인 권한 / 본인은 의견 청취 대상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PRD v2.4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98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§18. v2.1 신규 — 후견 모드 (Guardianship Mode) · 18.3 신규 FR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FR# / 요구사항 / 우선순위 / 마일스톤
• **FR-59** / 후견 결정문 등록 (OCR 자동 추출 + 수동 입력 백업) + 법원 등기 ID 검증 API 연동 (대법원 가족관계등록부 검증, 추후 PoC) / P0 / GA 1.0 (M7-M12)
• **FR-60** / 후견 유형별 권한 차등 자동 적용 (한정/특정/성년 ENUM에 따른 RBAC 정책 분기) + 권한 화면에 후견 배지 노출 / P0 / GA 1.0
• **FR-61** / 후견인-당사자-보호자 3자 동의 흐름 (특정 행위 발생 시 후견인 1순위 알림, 본인 의견 청취 의무, 보호자 통지) / P1 / v1.1 (M13-M18)
• **FR-71** ⭐ v2.4 / **후견인 본인 얼굴 인증** (셀카 + 동영상 라이브니스 + 대법원 결정문 신분증과 AI 얼굴 매칭) — 자세히 §21.4 / **P0** / **MVP Beta**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PRD v2.4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99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§18. v2.1 신규 — 후견 모드 (Guardianship Mode) · 18.4 정책 디테일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**후견 결정문 검증 실패 시**: 가족 자격으로 일반 보호자 권한만 부여, 후견 권한은 미활성
• **본인 의견 청취 의무 (성년후견 포함)**: 한국 민법 §947 — 후견인이 본인 의견 청취 의무 → AAC 화면으로 본인 의견 항상 기록 (실권한과 별도)
• **후견인 사망·해임**: D+0 권한 자동 정지 → 30일 내 후속 후견인 등록 or 가족 권한 임시 복귀 (법원 결정 필요)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PRD v2.4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100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§18. v2.1 신규 — 후견 모드 (Guardianship Mode) · 18.5 측정 KPI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KPI / 목표
• 후견 결정 검증 성공율 / 100% (가용한 법적 검증 채널 내)
• 후견 모드 본인 의견 청취 로그 누락율 / 0% (감사 의무)
• 후견 모드 가정의 분쟁 발생율 / &lt; 1% (분기)
• ---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PRD v2.4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101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§19. v2.1 신규 — 외부 연동 로드맵 (v1.1 이연 명시) · 19.1 배경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v1.0/v2.0에서 "IoT/PHR 연동 제외"만 명시되었고 **공공 행정 시스템(행복e음·NEIS)의 처리 결정이 흐릿함**. workflows §A4.3의 모호성을 명시적으로 v1.1 이연으로 정정.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PRD v2.4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102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§19. v2.1 신규 — 외부 연동 로드맵 (v1.1 이연 명시) · 19.2 외부 연동 로드맵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연동 대상 / 용도 / 결정 / 일정
• **행복e음 (사회보장정보시스템)** / 사회복지사 케이스 관리 보완, B2G 바우처 청구 자동화 / **v1.1 이연 확정** / M13-M15 PoC, M15-M18 GA
• **NEIS (학교생활기록부)** / 특수교사 IEP 연동, 학적 이동 시 인계서 자동 트리거 / **v1.1 이연 확정** / M15-M18 PoC, M18-M21 GA
• **국민건강보험공단 API** / 의료 기록 보완 / **v2.0 이연** (M19+) / TBD
• **카카오톡 채널 (인계 알림)** / 비사용자에게 인계서 발송 / **GA 1.0 포함** / M7-M12
• **PASS 본인인증** / 가입 인증 / **MVP 포함 (v1.0과 동일)** / M3-M6
• **국세청 전자세금계산서** / FR-57 의무 연동 / **GA 1.0 포함** / M7-M12
• **대법원 가족관계등록 검증** / FR-59 후견 결정문 검증 / **PoC 필요 → GA 1.0** / M5-M12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PRD v2.4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103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§19. v2.1 신규 — 외부 연동 로드맵 (v1.1 이연 명시) · 19.3 v1.1 이연 사유 (행복e음·NEIS 공통)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1.
• **MVP 가설 검증 우선**: B2B 시설장의 가치 가설(WTP 12,000원/이용자/월)을 GA 1.0에서 검증한 후 공공 연동 비용 정당화 2.
• **공공 API 인증 절차 장기화**: 보건복지부·교육부 정보보호 인증, ISMS-P 사전 취득 필요 (M7+ 시작) 3.
• **권한 정책 충돌 위험**: 행복e음은 사회복지사 ↔ 행복e음 시스템 간 별도 권한 체계가 있어, 본 플랫폼의 RBAC와 충돌 가능 → 별도 매핑 레이어 설계 필요.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PRD v2.4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104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§19. v2.1 신규 — 외부 연동 로드맵 (v1.1 이연 명시) · 19.4 GA 1.0까지의 외부 연동 우선순위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순위 / 연동 / 사유
• 1 / PASS 본인인증 / MVP 필수
• 2 / 카카오톡 채널 / 비사용자 인계 (인계서 핵심 가치)
• 3 / 국세청 전자세금계산서 / B2B 결제 필수 (FR-57)
• 4 / 대법원 가족관계등록 / 후견 모드 (FR-59)
• 5 / 클로바 OCR / 종이 노트 마이그레이션 (FR-27)
• 6 / GPT-Vision / Whisper / 사진/음성 AI (FR-01,06,26)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PRD v2.4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105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§19. v2.1 신규 — 외부 연동 로드맵 (v1.1 이연 명시) · 19.5 v2.3 신규 — 데이터 거주성 (Data Residency)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990000"/>
            <a:ext cx="11472119" cy="3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algun Gothic"/>
              </a:rPr>
              <a:t>19.5 v2.3 신규 — 데이터 거주성 (Data Residency) (계속 1/2)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1800000"/>
            <a:ext cx="540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2D2D2D"/>
                </a:solidFill>
                <a:latin typeface="Malgun Gothic"/>
              </a:rPr>
              <a:t>• CTO팀 Security 권고 — 의료·후견 데이터의 **국내 보존 의무** (개정 개인정보보호법 §39의2)
• 19.5.1 호스팅 결정
• 항목 / 선정 / 근거
• **주 호스팅** / **NCP (Naver Cloud Platform) — 한국 리전** / (1) 데이터 국내 보존 의무 (2) B2G 친화 (3) ISMS-P 표준 환경
• 백업 호스팅 / AWS Seoul (ap-northeast-2) / DR 사이트 — 의료 데이터 제외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0000" y="1800000"/>
            <a:ext cx="540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2D2D2D"/>
                </a:solidFill>
                <a:latin typeface="Malgun Gothic"/>
              </a:rPr>
              <a:t>• CDN / NCP CDN+ + Cloudflare 한국 PoP / 정적 자산만
• 19.5.2 AI API 거주성 결정
• API / 결정 / 사유
• ~~Whisper STT~~ / **v2.4 폐기** — STT 자체 통합 폐기 (§21). 음성 입력은 OS 키보드 음성 기능 의존 (자체 구현 0건) / ~~음성 데이터 해외 전송 위험~~ → **위험 자체가 사라짐**
• GPT-Vision (마이그레이션) / OpenAI 사용 가능 (사진 익명화 후) / 얼굴 비식별화 처리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PRD v2.4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106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§19. v2.1 신규 — 외부 연동 로드맵 (v1.1 이연 명시) · 19.5 v2.3 신규 — 데이터 거주성 (Data Residency)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990000"/>
            <a:ext cx="11472119" cy="3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algun Gothic"/>
              </a:rPr>
              <a:t>19.5 v2.3 신규 — 데이터 거주성 (Data Residency) (계속 2/2)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Clova OCR / Clova STT / NCP 자체 (국내 호스팅) ✅ / 데이터 국내 보존 보장
• LLM (AI 추이 인사이트) / **NCP HyperCLOVA X 우선 검토** / 국내 API + 한국어 발화 우수
• 19.5.3 컴플라이언스 점검
• 의료 데이터 (FR-13~16): **국내 보존 의무** + 5년 감사 로그
• 후견 결정문 (FR-59): **국내 보존 + 대법원 등기 ID** 별도 보안 저장소
• 외부 송부 시: 보호자 명시 동의 + 분리 동의 (FR-15) + JSON 표준 (FR-46)
• ---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PRD v2.4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107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§20. v2.2 신규 — 자가진단 도구 + AI 추이 분석 (의료 진단 아님) · 20.1 배경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PRD v2.1까지 61개 FR이 정의되었으나 **신규 진단 보호자(영유아 페르소나)의 진단 전·후 모니터링 도구가 0건**. 발달지연 의심 시기에 보호자가 의존할 수 있는 객관적 자가진단 도구가 없어, "전문의 진단 전 막연한 불안"의 페인을 해소하지 못한다.
• **핵심 포지셔닝 (의료법 안전)**: 본 도구는 **의료적 진단이 아니라 "보호자 관찰 의견의 시간적 추이 기록"**이다. 모든 결과 화면·PDF·알림에 "정식 진단은 전문의 상담 필요"를 의무 표기하여 의료법·약사법 위반 분쟁을 사전 차단한다.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PRD v2.4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108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§20. v2.2 신규 — 자가진단 도구 + AI 추이 분석 (의료 진단 아님) · 20.2 한국 표준 자가진단 도구 6종 (MVP/GA 적용)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도구 / 풀네임 / 대상 / 주기 / 도메인 / 공식 출처 / 마일스톤
• **K-DST** / Korean Developmental Screening Test / 4~71개월 / 8단계 (4·9·18·24·30·36·48·60개월) / 발달 선별 / 보건복지부·질병관리청 / MVP P0
• **K-ASQ** / Korean Ages and Stages Questionnaire / 1~60개월 / 월령별 21회 / 발달 선별 / 서울대 의대 한국형 / v1.1 P1
• **M-CHAT-R** / Modified Checklist for Autism in Toddlers - Revised / 16~30개월 / 1회 (6개월 재검사 옵션) / 자폐 선별 / Robins et al. (2014) / MVP P0
• **AIR-SDS** / AIR Self-Determination Scale (한국형) / 14세+ / 학기별 (반기) / 자기결정 / American Institutes for Research / GA 1.0 P0
• **K-SIB-R** / Korean Scales of Independent Behavior - Revised / 학령기 이상 / 분기·반기 / 자립생활 / 학술 표준 / v1.1 P1
• **VABS-3** / Vineland Adaptive Behavior Scales (한국 번역) / 전 연령 / 연 1~2회 / 적응행동 / Sparrow et al. / v1.1 P2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PRD v2.4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109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§20. v2.2 신규 — 자가진단 도구 + AI 추이 분석 (의료 진단 아님) · 20.3 신규 FR (FR-62~68)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FR# / 요구사항 / 우선순위 / 마일스톤
• **FR-62** / K-DST 영유아 정기 자가진단 (8단계, 보호자 응답, PDF 결과 + 타임라인 자동 등록) / P0 / MVP Beta (M3-M6)
• **FR-63** / M-CHAT-R 자폐 선별 검사 (16~30개월 1회 + 6개월 재검사 옵션) / P0 / MVP Beta
• **FR-64** / 자기결정능력 자가체크 (AIR-SDS, 14세+ 학기별, 18세 이양 가이드 §15와 연동) / P1 / GA 1.0 (M7-M12)
• **FR-65** / 자립생활 능력 분기 평가 (K-SIB-R, 케이스 회의 자료 §16 자동 입력) / P1 / v1.1 (M13-M18)
• **FR-66** / 적응행동 연간 평가 (VABS-3, 분기 인계서 자동 첨부) / P2 / v1.1
• **FR-67** / **AI 추이 분석** — 5개 도메인별 점수 시계열 + 추세 시각화(↑→↓) + 자연어 인사이트 생성 / P0 / MVP Beta
• **FR-68** / **의료법 안전 면책 표기 의무** — 모든 결과 화면·PDF에 "보호자 관찰 의견 / 정식 진단은 전문의 상담" 표기 / P0 (법적 필수) / MVP Beta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PRD v2.4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110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§20. v2.2 신규 — 자가진단 도구 + AI 추이 분석 (의료 진단 아님) · 20.4 AI 추이 분석 — FR-67 명세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990000"/>
            <a:ext cx="11472119" cy="3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algun Gothic"/>
              </a:rPr>
              <a:t>20.4 AI 추이 분석 — FR-67 명세 (계속 1/2)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1800000"/>
            <a:ext cx="540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2D2D2D"/>
                </a:solidFill>
                <a:latin typeface="Malgun Gothic"/>
              </a:rPr>
              <a:t>• 입력
• 동일 사용자(자녀)의 동일 도구 자가진단 결과 시계열 N회 (최소 2회 이상)
• 처리 1.
• **도메인별 점수 추이 시각화**: 라인 차트 (각 도메인 N회 기록) 2.
• **추세 분류**: ↑상승(+2점 이상) / →정체(±1점) / ↓하락(-2점 이상) 3.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0000" y="1800000"/>
            <a:ext cx="540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2D2D2D"/>
                </a:solidFill>
                <a:latin typeface="Malgun Gothic"/>
              </a:rPr>
              <a:t>• **자연어 인사이트 생성** (LLM): 변화 패턴 + 보호자 권장 행동 (의학적 권고는 제외) 4.
• **이상치 알림**: 단일 도메인이 +3점 이상 급변 또는 -3점 이상 급하락 시 보호자 알림 (전문의 상담 안내 포함) 출력 예시 박지훈 — 자기결정능력 자가체크 추이 (3회: 2024-12 → 2025-12) ───────────────────────────────────────────────────── 자율성       12 → 15 → 18  (+6점, 상승 ↑) 자기조절     14 → 16 → 19  (+5점, 상승 ↑) 심리적 권한  15 → 18 → 19  (+4점, 상승 ↑) 자기인식     17 → 19 → 20  (+3점, 상승 ↑) ───────────────────────────────────────────────────── 🤖 AI 인사이트: 전 영역 +3~6점 상승.
• AAC 동의 활동이 자기결정 능력 향상에 긍정적 영향.
• 18세 이양 D-90 단계에서 의료 항목 부분 이양 진행에 적합.
• ⚠ 정식 평가는 발달재활서비스 전문가 상담 권장.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PRD v2.4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111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§20. v2.2 신규 — 자가진단 도구 + AI 추이 분석 (의료 진단 아님) · 20.4 AI 추이 분석 — FR-67 명세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990000"/>
            <a:ext cx="11472119" cy="3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algun Gothic"/>
              </a:rPr>
              <a:t>20.4 AI 추이 분석 — FR-67 명세 (계속 2/2)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화면 위치.
• `/parent/screening` — 자가진단 목록 + 다음 검사 예약
• `/parent/screening/{tool-key}` — 도구별 응답 화면 (K-DST 30~60문항)
• `/parent/screening/trend/{tool-key}` — AI 추이 분석 화면 (FR-67)
• `/case/screening/{personId}` — 사회복지사용 케이스별 추이 열람 (권한 마스킹 적용)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PRD v2.4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112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§20. v2.2 신규 — 자가진단 도구 + AI 추이 분석 (의료 진단 아님) · 20.5 의료법·약사법 안전 정책 (FR-68 강제)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안전 장치 / 적용
• **결과 화면 상단 면책 배너** / "본 도구는 보호자 관찰 의견을 기록하는 것으로, 의료적 진단이 아닙니다. 정식 진단은 발달재활 전문의 상담이 필요합니다." (모든 화면 의무 노출)
• **PDF 첫 페이지 면책** / 동일 문구 + 자녀 사진·이름·생년월일 + 작성일·작성자 명시
• **AI 인사이트 표현 제한** / "권장합니다 / 안내드립니다" 어조만 허용. "진단됩니다 / 의심됩니다 / 치료가 필요합니다" 어휘 금지 — LLM 가드레일
• **이상치 알림 표준 문구** / "특정 영역에서 변화가 감지되었습니다. 발달재활서비스 또는 소아청소년과 상담을 권장합니다." (의료기관 직접 추천 X)
• **데이터 보관** / 검사 결과 5년 감사 로그 + 보호자 명시 동의 시 케이스 회의 자료 §16에 자동 첨부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PRD v2.4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113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§20. v2.2 신규 — 자가진단 도구 + AI 추이 분석 (의료 진단 아님) · 20.6 Risk 추가 — Pre-mortem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540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2D2D2D"/>
                </a:solidFill>
                <a:latin typeface="Malgun Gothic"/>
              </a:rPr>
              <a:t>• Risk #10. 자가진단을 정식 의료 진단으로 오인 (확률 中 / 영향 致命 → 긴급) **가상**: 보호자가 K-DST 결과를 의료적 진단서로 오해해 자녀 어린이집·학교에 제출 → 무자격 의료 진단 유통 → 의료법 §27 위반 분쟁 + 시설장 신뢰 손상 **대응**:
• FR-68 면책 표기를 모든 결과 화면·PDF에 의무화 (자동 워터마크)
• "이 문서를 의료적 진단 용도로 사용할 수 없습니다" — PDF 모든 페이지 표시
• 보건복지부 의료법 자문 위촉 (M3 이전)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0000" y="1800000"/>
            <a:ext cx="540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2D2D2D"/>
                </a:solidFill>
                <a:latin typeface="Malgun Gothic"/>
              </a:rPr>
              <a:t>• 분기 1회 LLM 출력 감사 (의료적 표현 회피 검증)
• Risk #11. AI 추이 분석 오류로 인한 부적절한 의사결정 (확률 中 / 영향 高) **가상**: AI가 단일 도메인 변동(예: 우연한 응답 누락)을 "급격한 하락"으로 잘못 해석 → 보호자가 자녀를 부적절한 치료에 노출 **대응**:
• 추이 분석은 최소 3회 이상 데이터 누적 시에만 활성화 (2회 이하는 "데이터 부족" 안내)
• 인사이트는 항상 "전문가 상담 권장" 문구 동반
• 보호자 피드백 수집 — "AI 인사이트가 도움이 됐나요?" 분기별 만족도 측정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PRD v2.4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114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§20. v2.2 신규 — 자가진단 도구 + AI 추이 분석 (의료 진단 아님) · 20.7 측정 KPI (자가진단 영역)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KPI / 목표 (MVP Beta) / 측정 방법
• 신규 보호자 자가진단 도달율 / 70%+ (가입 후 7일 내 1회 이상) / 코호트 funnel
• K-DST 8단계 완주율 / 60%+ (영유아 자녀 보호자) / 단계별 완료 추적
• AI 추이 분석 클릭율 / 40%+ (자가진단 완료자) / 클릭 이벤트
• 의료적 표현 LLM 출력 (위반 건수) / 0건 / 분기 LLM 출력 샘플링
• 보호자 인사이트 만족도 / 4/5 이상 / 분기 NPS
• 자가진단 → 전문의 상담 전환율 / 추적 (참고 지표) / 보호자 자가 신고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PRD v2.4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115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§20. v2.2 신규 — 자가진단 도구 + AI 추이 분석 (의료 진단 아님) · 20.8 통합 가치 — 기존 §15·§16·§19와 연결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**§15 (18세 이양)**: FR-64 자기결정능력 자가체크 결과 → 이양 D-180/D-90 단계별 의사결정 보조 데이터
• **§16 (케이스 회의 자료)**: FR-65 K-SIB-R 결과 → 4영역(교육·의료·돌봄·자립) 중 "자립" 영역 자동 입력
• **§19 (외부 연동)**: 향후 v2.0에서 발달재활서비스 정보시스템 연동 시 자가진단 이력 자동 송부 (v2.0 이연)
• **타임라인(FR-08)**: 모든 자가진단 결과는 카드로 자동 등록 (5색 생애주기 좌측 띠 적용)
• ---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PRD v2.4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116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§21. v2.4 신규 — 다중 입력 모드 4종 (FR-69) + STT 폐기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리빙랩 #01 5 Batch 의사결정 결과 — `docs/07-livinglab/01-living-lab-meeting-minutes.md` v1.1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PRD v2.4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117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§21. v2.4 신규 — 다중 입력 모드 4종 (FR-69) + STT 폐기 · 21.1 배경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v1.0~v2.3 PRD까지 일지 입력은 **STT 음성 일지 (FR-05) 단일 방식**이 핵심이었으나, 리빙랩 #01에서 다음 3대 제약이 명확히 드러남: 1.
• **시끄러운 환경 부적합** — 시설 점심 식당·교실에서 음성 인식률 ↓ 2.
• **이용자 옆 부담** — 1:1 상황에서 활동지원사가 이용자 옆에서 음성 입력하는 것은 양측 모두 부담 (이수진 활동지원사) 3.
• **발달장애 비표준 발화** — STT API 학습 모델의 한계 **결론**: STT 자체 통합 폐기.
• 음성 입력이 필요한 사용자는 스마트폰 OS 키보드 음성 입력 기능 사용 (Android 키보드·iOS 받아쓰기 — 기본 제공).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PRD v2.4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118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§21. v2.4 신규 — 다중 입력 모드 4종 (FR-69) + STT 폐기 · 21.2 FR-05 정의 변경 (v1.0 → v2.4)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항목 / v1.0 정의 / v2.4 변경
• 기능명 / STT 음성 일지 + AI 자동 카테고리 / **빠른 선택 일지 + AI 자동 카테고리**
• 입력 매체 / 음성 (자체 STT) / 4종 모드 (FR-69) 중 선택
• 외부 의존성 / Whisper API or Clova STT / 없음 (모두 클라이언트 내 처리)
• 평균 작성 시간 / 1분 47초 (STT 응답 시간 포함) / **15초 (빠른 선택) / 5초 (체크리스트)**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PRD v2.4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119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§21. v2.4 신규 — 다중 입력 모드 4종 (FR-69) + STT 폐기 · 21.3 FR-69 다중 입력 4종 명세 (P0)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990000"/>
            <a:ext cx="11472119" cy="3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algun Gothic"/>
              </a:rPr>
              <a:t>21.3 FR-69 다중 입력 4종 명세 (P0) (계속 1/2)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1800000"/>
            <a:ext cx="540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2D2D2D"/>
                </a:solidFill>
                <a:latin typeface="Malgun Gothic"/>
              </a:rPr>
              <a:t>• 21.3.1 입력 모드 카드 일지 작성 진입 시 입력 모드 선택 (UserPreferences 기본값 가능) ───────────────────────────────────────────────────────────── ┌──────────┐ ┌──────────┐ ┌──────────┐ ┌──────────┐ │ ⚡ 빠른    │ │ ✅ 체크   │ │ 📷 사진   │ │ ⌨️ 텍스트 │ │ 선택      │ │ 리스트    │ │ + 태그    │ │ + OS 음성│ │          │ │          │ │          │ │  키보드   │ │ 15초      │ │ 5초       │ │ 30초      │ │ 1~2분    │ │ P0       │ │ P0       │ │ P0(FR-06) │ │ 보조      │ └──────────┘ └──────────┘ └──────────┘ └──────────┘ 🔴 STT 자체 통합 폐기 — Whisper·Clova STT 외부 API 미사용 음성 입력 필요 시 OS 키보드 음성 (Android·iOS 기본 제공) 21.3.2 모드별 사용 환경 매트릭스
• 모드 / 환경 / 활동지원사 의견 / 적합도
• ⚡ 빠른 선택 / 시설·이용자 옆·일상 / "이게 진짜 필요" — 이수진 / 매우 高
• ✅ 체크리스트 / 응급·일과 자동 슬롯 / "5분 단위 자동 좋아요" — 정민지 / 매우 高
• 📷 사진+태그 / 시각 증거 필요 / "사진 + 키워드만 누르고 싶어요" — 정민지 / 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0000" y="1800000"/>
            <a:ext cx="540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2D2D2D"/>
                </a:solidFill>
                <a:latin typeface="Malgun Gothic"/>
              </a:rPr>
              <a:t>• ⌨️ 텍스트+OS 음성 / 사무실·재택 회고 / "긴 메모는 키보드로" — 한교사 / 中
• 21.3.3 신규 FR 명세
• FR# / 요구사항 / 우선순위 / 출처 (리빙랩)
• **FR-69** / 다중 입력 모드 4종 (빠른 선택·체크리스트·사진+태그·텍스트+OS 음성). UserPreferences 기본 모드 저장. 모든 모드 결과는 통합 Journal 데이터 모델로 정규화 / **P0** / 회의 핵심 안건
• **FR-69a** / "빠른 선택 입력" — 카테고리 5종(식사/투약/행동/정서/학습) × 자주 사용 옵션 8~12개 + 짧은 텍스트 + 메뉴 태그 / P0 / LS1+JM1+JM2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PRD v2.4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120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§21. v2.4 신규 — 다중 입력 모드 4종 (FR-69) + STT 폐기 · 21.3 FR-69 다중 입력 4종 명세 (P0)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990000"/>
            <a:ext cx="11472119" cy="3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algun Gothic"/>
              </a:rPr>
              <a:t>21.3 FR-69 다중 입력 4종 명세 (P0) (계속 2/2)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**FR-69b** / "체크리스트 입력" — 시설 일과표 기반 시간 슬롯 (LS2 시간 슬롯 + JM2 5분 슬롯) + 누적 패턴 학습 / P0 / LS2 + JM2
• **FR-69c** / "사진+태그" — 사진 5장 + Quick Tags 카테고리 + 짧은 음성/텍스트 캡션 / P0 / JM1 (FR-06 강화)
• **FR-69d** / "텍스트+OS 음성" — OS 키보드 음성 입력 기능 의존, 자체 STT 없음 / 보조 / 한교사
• **FR-69e** / 일지 저장 후 "다음 일지" 빠른 전환 (한 화면 3건 누적) / P1 / JM3
• **FR-69f** / 일지 작성 후 "이용자 확인 도장" 옵션 (15세+ 당사자 AAC 화면으로 자동 연결) / P1 / LS3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PRD v2.4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121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§21. v2.4 신규 — 다중 입력 모드 4종 (FR-69) + STT 폐기 · 21.4 FR-71 후견인 본인 얼굴 인증 (v2.4 신규)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리빙랩 PB1 (박변호사) — Risk #9 (후견 결정문 위조) 추가 방어선
• 후견인 등록 시 인증 시퀀스: [1] 후견 결정문 OCR (FR-59) ↓ [2] 대법원 가족관계등록 ID 검증 (FR-59) ↓ [3] ⭐ 후견인 본인 얼굴 인증 (FR-71 NEW) ├─ 셀카 1장 + 동영상 라이브니스 (눈 깜빡임) ├─ 대법원 결정문 등록 신분증 사진과 1:1 매칭 (AI 얼굴 인식) └─ 매칭 실패 시 → 기본값 = 일반 보호자 권한 (Risk #9 대응)
• FR# / 요구사항 / 우선순위
• **FR-71** / 후견인 등록 시 셀카 + 동영상 라이브니스 검증 + 대법원 결정문 신분증과 AI 얼굴 매칭 / **P0**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PRD v2.4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122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§21. v2.4 신규 — 다중 입력 모드 4종 (FR-69) + STT 폐기 · 21.5 PoC E1 폐기 + 외부 의존성 정리 (v2.4)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항목 / v2.3 상태 / v2.4 변경
• PoC E1 (STT 한국어 비표준 발화 정확도, 4주) / 우선순위 1 / **폐기**
• Whisper API or Clova STT (외부 의존성) / 결정 보류 (Plan §6.5) / **항목 제거**
• NCP 데이터 거주성 — Whisper 자체 호스팅 (§19.5) / 권장 / **권장 불필요 (사용 안 함)**
• 새 PoC E1' / — / **"빠른 선택 UI 적합성 PoC" 신설 — 시범 시설 3곳 2주**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PRD v2.4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123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§21. v2.4 신규 — 다중 입력 모드 4종 (FR-69) + STT 폐기 · 21.6 통합 가치 (기존 §15·§16·§19와 연결)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**§15 18세 이양**: FR-69f 이용자 확인 도장 → 당사자 AAC 동의 (FR-19)와 자연 연결
• **§16 케이스 회의 자료**: FR-69b 체크리스트 데이터 → 4영역 자동 추출 정확도 ↑
• **§17 B2B 결제**: 빠른 선택·체크리스트로 일지 작성 시간 ↓ → 시설장 ROI ↑
• **§20 자가진단**: 자가진단 결과 카드 등록도 동일한 UI 패턴 (빠른 선택) 적용
• ---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PRD v2.4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124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§22. v2.5 신규 — 보호자 자조 모임 (Parent Self-Help Group)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상세 Plan: `docs/01-plan/features/parent-self-help-group.plan.md` v1.0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PRD v2.4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125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§22. v2.5 신규 — 보호자 자조 모임 (Parent Self-Help Group) · 22.1 배경 및 목적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온보딩 후 첫 1주 "혼자 쓰는 느낌" 페인포인트(§7.1) 해소 + 보호자 1주 잔존율 70%+ 달성 기여. 경쟁사 에이블링(§3.6.1 #3)은 커뮤니티 중심이나 기록 기능 약함 — Recordare는 **인증 보호자 전용 폐쇄형 공간**으로 에이블링과 차별화를 유지하면서 커뮤니티 가치를 추가.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PRD v2.4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126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§22. v2.5 신규 — 보호자 자조 모임 (Parent Self-Help Group) · 22.2 그룹 구성 모델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그룹 유형 / 형성 방식 / 최대 인원 / 공개 범위
• 생애주기 자동 매칭 그룹 / 자녀 나이 기반 자동 배정 (온보딩 시) / 500명 / 인증 보호자만
• 자유 개설 그룹 / 보호자가 주제·지역·공개범위 설정 / 100명 / 인증 보호자만
• 생애주기 구분: 영유아기(0~6세) / 학령기(7~17세) / 전환기(18~24세) / 성인기(25세+)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PRD v2.4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127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§22. v2.5 신규 — 보호자 자조 모임 (Parent Self-Help Group) · 22.3 MVP 핵심 기능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**게시판**: 그룹 내 글 작성(텍스트+사진 5장) + 댓글 + 좋아요
• **모임 일정**: 온라인(링크)/오프라인(장소) 등록 + RSVP(선착순/승인제)
• **알림**: 모임 D-1 / 당일 1시간 전 리마인더 (기존 FR-35~38 채널 재사용)
• **관리자 권한**: 그룹 개설자가 자동으로 관리자, 게시물 삭제·멤버 관리
• **신고 기능**: 신고 즉시 블라인드 + 운영팀 알림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PRD v2.4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128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§22. v2.5 신규 — 보호자 자조 모임 (Parent Self-Help Group) · 22.4 데이터 분리 원칙 (FR-83)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커뮤니티 DB 스키마(`community`)는 케어 DB(`JournalEntry`, `Handover`, `TimelineCard` 등)와 **완전 분리**
• 자조 모임 내 UI에서 자녀 기록·권한·인계서 데이터 노출 **절대 금지**
• 게시물에는 보호자 닉네임만 표시 (실명·자녀 이름 비노출)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PRD v2.4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129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§22. v2.5 신규 — 보호자 자조 모임 (Parent Self-Help Group) · 22.5 신규 FR (보호자 자조 모임, FR-74~83)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990000"/>
            <a:ext cx="11472119" cy="3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algun Gothic"/>
              </a:rPr>
              <a:t>22.5 신규 FR (보호자 자조 모임, FR-74~83) (계속 1/2)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1800000"/>
            <a:ext cx="540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2D2D2D"/>
                </a:solidFill>
                <a:latin typeface="Malgun Gothic"/>
              </a:rPr>
              <a:t>• FR# / 요구사항 / 우선순위 / 마일스톤
• **FR-74** / 생애주기 자동 매칭 그룹 배정 — 온보딩 시 자녀 나이 기반 자동 가입, 알림 동의 시 즉시 연결 / P0 / M5
• **FR-75** / 자유 개설 그룹 — 보호자가 주제·지역·공개범위 설정, 그룹 탐색·가입 신청 / P0 / M5
• **FR-76** / 그룹 내 게시판 — 글 작성(텍스트+사진 최대 5장), 댓글, 좋아요. 자녀 기록 연동 불가 / P0 / M5
• **FR-77** / 모임 일정 등록 — 온라인(링크)/오프라인(장소+지도), 날짜·시간·인원 제한·설명 / P0 / M5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0000" y="1800000"/>
            <a:ext cx="540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2D2D2D"/>
                </a:solidFill>
                <a:latin typeface="Malgun Gothic"/>
              </a:rPr>
              <a:t>• **FR-78** / RSVP 참여 신청·취소 — 선착순/승인제 선택. 확정 시 푸시 알림 / P0 / M5
• **FR-79** / 모임 리마인더 알림 — D-1 / 당일 1시간 전. 기존 FR-35~38 채널 재사용 / P1 / M6
• **FR-80** / 그룹 관리자 권한 — 게시물·댓글 삭제, 멤버 내보내기, 그룹 설정 수정 / P1 / M6
• **FR-81** / 신고 기능 — 게시물·댓글·모임 신고 버튼. 신고 즉시 블라인드 + 운영팀 알림 / P1 / M6
• **FR-82** / 온보딩 연결 CTA — 7단계 완료 화면에 "같은 생애주기 보호자 N명과 함께하고 있어요" CTA / P1 / M5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PRD v2.4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130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§22. v2.5 신규 — 보호자 자조 모임 (Parent Self-Help Group) · 22.5 신규 FR (보호자 자조 모임, FR-74~83)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990000"/>
            <a:ext cx="11472119" cy="3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algun Gothic"/>
              </a:rPr>
              <a:t>22.5 신규 FR (보호자 자조 모임, FR-74~83) (계속 2/2)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**FR-83** / 커뮤니티-케어 데이터 완전 분리 — community Prisma 스키마 분리, UI 레이어 데이터 오염 방지 / P0 (NFR) / M5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PRD v2.4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131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§22. v2.5 신규 — 보호자 자조 모임 (Parent Self-Help Group) · 22.6 성공 지표 (KPI)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KPI / 목표 / 측정 시점
• KPI-C01 / 온보딩 완료 후 자조 모임 첫 가입율 ≥ 40% / M6
• KPI-C02 / 월 활성 보호자 중 자조 모임 참여율 ≥ 30% / M6
• KPI-C03 / 게시판 글 1건 이상 작성 보호자 비율 ≥ 20% / M6
• KPI-C04 / 모임 일정 등록 건수 ≥ 10건/월 (보호자 100명 기준) / M6
• KPI-C05 / 보호자 1주 잔존율 기존 KPI-01(70%+) 달성 기여 / M6 코호트
• ---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PRD v2.4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132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§23. v2.0/v2.1/v2.2/v2.4/v2.5 Attribution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§21 Attribution이 v2.4 §21 다중 입력 모드 추가로 §22로, v2.5 §22 보호자 자조 모임 추가로 §23으로 재번호됩니다.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PRD v2.4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133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§23. v2.0/v2.1/v2.2/v2.4/v2.5 Attribution · 20.1 v2.0 보완 출처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**온보딩 First Value**: Reforge / Wes Bush "Product-Led Growth"
• **오프라인 우선 (Offline-First)**: PouchDB / Hood.ie design principles
• **인지 접근성**: WCAG 2.1 Cognitive Accessibility Working Group + 한국웹접근성 (KWCAG 2.2)
• **알림 피로 관리**: Nir Eyal "Indistractable" + Google Material Design Notifications
• **데이터 이동권**: 개정 개인정보보호법 §35의2 + GDPR Article 20
• v1.0 PM Agent Team 산출물 위에 누적되어 v2.0 완성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PRD v2.4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134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§23. v2.0/v2.1/v2.2/v2.4/v2.5 Attribution · 20.2 v2.1 보완 출처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**18세 권한 이양 (§15)**: 보건복지부 자립지원 통계 + 영국 Mental Capacity Act 2005 (Best Interest Decision-Making) + 일본 성년후견제도 비교 연구
• **케이스 회의 자료 (§16)**: 보건복지부 사례관리 가이드라인 + 한국사회복지사협회 표준 양식
• **B2B 결제 (§17)**: 국세청 전자세금계산서 발행 시스템 + Stripe Subscription Architecture
• **후견 모드 (§18)**: 한국 민법 §938~§959 (성년후견·한정후견·특정후견)
• **외부 연동 로드맵 (§19)**: 보건복지부 정보화 표준 + 교육부 NEIS API 가이드 (공개분)
• workflows 문서(`docs/00-pm/recordare-workflows.md`)의 미정의 항목 5건을 FR로 정식 명세화
• --- **문서 종료 — v2.1**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1B4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6000" cy="6858000"/>
          </a:xfrm>
          <a:prstGeom prst="rect">
            <a:avLst/>
          </a:prstGeom>
          <a:solidFill>
            <a:srgbClr val="E07A5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1080000"/>
            <a:ext cx="10080000" cy="144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15000"/>
              </a:lnSpc>
            </a:pPr>
            <a:r>
              <a:rPr sz="4600" b="1">
                <a:solidFill>
                  <a:srgbClr val="FFFFFF"/>
                </a:solidFill>
                <a:latin typeface="Malgun Gothic"/>
              </a:rPr>
              <a:t>브랜드 아이덴티티 핵심 내용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2520000"/>
            <a:ext cx="10080000" cy="90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>
                <a:solidFill>
                  <a:srgbClr val="F5F0E8"/>
                </a:solidFill>
                <a:latin typeface="Malgun Gothic"/>
              </a:rPr>
              <a:t>recordare-bi-guide.md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브랜드 아이덴티티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135 / 254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브랜드 아이덴티티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136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1. 브랜드 네임 · 1.1 정식 명칭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구분 / 표기
• 영문 (정식) / **Recordare**
• 한글 (표기) / **레코다레**
• 영문 약자 / **RC**
• 도메인 방향 / `recordare.kr` / `recordare.io`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브랜드 아이덴티티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137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1. 브랜드 네임 · 1.2 어원 및 의미 레이어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Recordare │ ├── 라틴어 "recordari" — 기억하다, 회상하다 (to remember, to recall) │     └── re(다시) + cor(심장·마음) = "마음에 다시 새기다" │ ├── 영어 "Record" — 기록하다, 기록 │     └── 시각적으로 즉시 인식되는 현대적 기능 표현 │ └── 어미 "-are" — 라틴어 동사 원형 어미 └── 이탈리아어·포르투갈어에서도 "~하다"를 뜻하여 글로벌 친숙감 **핵심 의미 요약**: 단순한 데이터 저장이 아닌, **마음에 새기는 살아있는 기억** — 지적장애인 당사자의 삶이 기록을 통해 연결되고 보존되며, 그 기억이 자립의 토대가 됨을 표현.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브랜드 아이덴티티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138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1. 브랜드 네임 · 1.3 발음 가이드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언어 / 발음 / 표기
• 한국어 / 레-코-다-레 / 4음절, 균등 강세
• 영어 / reh-cor-DAH-reh / 3번째 음절 강세
• 라틴어 원음 / reh-KOR-dah-reh / 2번째 음절 강세
• **권장**: 한국 서비스이므로 한국어 발음 "레코다레" 균등 4음절 사용.
• ---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브랜드 아이덴티티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139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2. 브랜드 철학 · 2.1 브랜드 본질 (Brand Essence)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**"마음에 새기는 기억, 스스로 자라는 삶"**
• 지적장애인 당사자의 삶은 기관이 바뀔 때마다 처음부터 다시 소개되어야 했습니다. Recordare는 그 기억이 끊기지 않도록 마음에 새기고, 그 기억이 당사자 스스로의 권리로 자라도록 지원합니다.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브랜드 아이덴티티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140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2. 브랜드 철학 · 2.2 브랜드 미션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**"모든 지적장애인 당사자의 삶이 기억되고, 그 기억이 자립의 힘이 되도록"**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브랜드 아이덴티티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141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2. 브랜드 철학 · 2.3 브랜드 비전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**"2030년, 국내 모든 발달장애 관련 기관에서 Recordare가 표준 기록 플랫폼이 된다"**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브랜드 아이덴티티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142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2. 브랜드 철학 · 2.4 브랜드 가치 (Core Values)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가치 / 의미 / 실천 방식
• **연속성 (Continuity)** / 기록은 끊기지 않는다 / 기관 전환 시 인계서 자동 생성
• **존엄 (Dignity)** / 당사자는 기록의 주인이다 / 성인 전환 시 권한 당사자 이행
• **신뢰 (Trust)** / 민감한 정보를 안전하게 / ISMS-P 인증, 암호화, Audit Log
• **접근성 (Accessibility)** / 누구나 쉽게 / AAC 픽토그램, 음성 안내, 쉬운 말
• **성장 (Growth)** / 기록이 쌓여 자립이 된다 / 생애주기별 발달 추이 시각화
• ---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브랜드 아이덴티티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143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3. 슬로건 · 3.1 메인 슬로건 (Main Slogan)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## "당신의 삶, 단 하나의 기억으로"
• **선정 이유**:
• "당신" — 당사자 중심성 명확히 표현
• "단 하나" — 파편화 해소, 통합의 가치
• "기억으로" — Recordare 어원(마음에 새기다)과 직결
• 보호자·당사자·전문가 모두에게 공명하는 보편적 언어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브랜드 아이덴티티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144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3. 슬로건 · 3.2 서브 슬로건 (Sub Slogan)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540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2D2D2D"/>
                </a:solidFill>
                <a:latin typeface="Malgun Gothic"/>
              </a:rPr>
              <a:t>• **기관·전문가 대상 (B2B/B2G)**
• "기록은 이어지고, 돌봄은 함께"
• **보호자 대상 (B2C)**
• "기록은 끊기지 않고, 권한은 당사자에게 자란다"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0000" y="1800000"/>
            <a:ext cx="540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2D2D2D"/>
                </a:solidFill>
                <a:latin typeface="Malgun Gothic"/>
              </a:rPr>
              <a:t>• **당사자 대상 (AAC/쉬운 말 버전)**
• "내 이야기는 계속됩니다"
• **임팩트 투자·사회적기업 대상**
• "작은 기록이 쌓여, 스스로 서는 힘이 됩니다"
• ---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브랜드 아이덴티티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145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4. 카피라이팅 · 4.1 메인 카피 (Hero Copy)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990000"/>
            <a:ext cx="11472119" cy="3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algun Gothic"/>
              </a:rPr>
              <a:t>4.1 메인 카피 (Hero Copy) (계속 1/2)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1800000"/>
            <a:ext cx="540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2D2D2D"/>
                </a:solidFill>
                <a:latin typeface="Malgun Gothic"/>
              </a:rPr>
              <a:t>• **버전 A — 보호자 감성**
• 30년을 바인더에 담아온 부모님의 노력이,
• 이제 클릭 하나로 전달됩니다.
• **버전 B — 전문가 공감**
• 오늘 선생님이 적은 한 줄이,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0000" y="1800000"/>
            <a:ext cx="540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2D2D2D"/>
                </a:solidFill>
                <a:latin typeface="Malgun Gothic"/>
              </a:rPr>
              <a:t>• 10년 후 새로운 선생님의 첫 인사가 됩니다.
• **버전 C — 당사자 존엄**
• 학교가 바뀌어도, 선생님이 바뀌어도.
• 당신의 이야기는 처음부터 다시 시작하지 않아도 됩니다.
• **버전 D — 미래 지향 (캠페인용)**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브랜드 아이덴티티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146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4. 카피라이팅 · 4.1 메인 카피 (Hero Copy)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990000"/>
            <a:ext cx="11472119" cy="3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algun Gothic"/>
              </a:rPr>
              <a:t>4.1 메인 카피 (Hero Copy) (계속 2/2)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오늘의 기록이, 내일의 자립이 됩니다.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브랜드 아이덴티티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147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4. 카피라이팅 · 4.2 서브 카피 (기능별)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기능 / 서브 카피
• 통합 타임라인 / "카카오톡 사진 1만 장 속에 흩어진 우리 아이의 이야기. 이제 하나의 흐름으로 기억됩니다."
• AI 음성 일지 / "오늘 음성으로 남긴 10초가, 10년 후 자립의 증거가 됩니다."
• 권한 이행 / "아이가 어른이 되는 모든 순간을, 우리는 함께 기억합니다."
• 3분 인계서 / "학교를 졸업하는 그날, 새 선생님은 이미 당신을 알고 있습니다."
• 당사자 동의 UI / "어느 기관에 가더라도, 당신의 길은 이미 이어져 있습니다."
• 전문가 권한 관리 / "선생님이, 부모님이, 지원사 선생님이 함께 써내려간 이야기. 그것이 바로 당신입니다."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브랜드 아이덴티티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148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4. 카피라이팅 · 4.3 온보딩 카피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가입 환영 메시지 (보호자) "환영합니다. 지금부터 소중한 기억들이 끊기지 않습니다." 첫 기록 유도 "첫 번째 기억을 남겨보세요. 작은 한 줄이 큰 자산이 됩니다." 인계서 생성 완료 "3분 안에 완성되었습니다. 이제 새 선생님도 당신의 아이를 알게 됩니다." 권한 이행 알림 "OO님이 어른이 되어가고 있습니다. 함께 준비해보세요."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브랜드 아이덴티티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149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4. 카피라이팅 · 4.4 AAC 모드 쉬운 말 카피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메인 화면     "내 이야기 보기" 동의 요청     "이 선생님에게 내 이야기를 보여줄까요?" 확인          "네, 보여줄게요"  /  "아니요, 괜찮아요" 완료          "잘 했어요! 선생님이 이제 알게 됐어요." ---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브랜드 아이덴티티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150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5. 브랜드 퍼스낼리티 · 5.1 브랜드 성격 (Brand Personality)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Recordare는 다음 5가지 성격을 가집니다:
• 성격 / 설명 / 반대 (지양)
• **따뜻함 (Warm)** / 차갑고 기술적인 느낌이 아닌, 사람 중심의 온기 / 냉철, 기계적
• **신뢰감 (Trustworthy)** / 민감한 정보를 다루는 만큼 안정적이고 믿음직함 / 가볍고 실험적
• **전문성 (Expert)** / 법적·복지 도메인 전문성을 갖춘 파트너 / 아마추어적
• **존중 (Respectful)** / 당사자를 보호 대상이 아닌 권리의 주체로 대함 / 시혜적, 동정적
• **명료함 (Clear)** / 복잡한 법·제도를 쉽게 안내 / 모호하고 어려운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브랜드 아이덴티티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151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5. 브랜드 퍼스낼리티 · 5.2 브랜드 목소리 (Brand Voice)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상황 / 톤 / 예시
• 랜딩 페이지 / 공감 + 희망 / "더 이상 처음부터 다시 시작하지 않아도 됩니다."
• 온보딩 / 따뜻 + 안내 / "걱정 마세요. 차근차근 함께 할게요."
• 오류 메시지 / 친근 + 명확 / "잠깐, 연결이 끊겼어요. 걱정 마세요, 기록은 안전합니다."
• 권한 경고 / 진중 + 명확 / "OO 선생님의 접근 권한이 7일 후 만료됩니다."
• 당사자 UI / 쉬운 말 + 밝음 / "잘 했어요! 선생님이 이제 알게 됐어요."
• B2B 영업 / 전문 + 신뢰 / "ISMS-P 인증 기반, 법적 요건을 충족하는 유일한 플랫폼."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브랜드 아이덴티티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152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5. 브랜드 퍼스낼리티 · 5.3 금지 표현 (Voice Off-Limits)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"장애우" → "당사자" 또는 "지적장애인"으로 표현
• "불쌍한", "힘든" 등 동정적 표현 지양
• "관리" → "기록·지원"으로 표현 (당사자를 관리 대상화하지 않음)
• "정상인" 등 비교·차별적 표현 전면 금지
• 지나치게 기술적인 약어 남발 (STT, LLM 등을 일반 사용자에게 직접 노출 지양)
• ---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브랜드 아이덴티티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153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6. 시각적 아이덴티티 방향 · 6.1 로고 컨셉 방향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**방향 A — 잎(Leaf) 타임라인** ╭─╮ ╭╯ ╰─╮        Recordare ╰╯    ╰╯       레코다레 ────── 생애주기를 상징하는 잎맥 구조.
• 각 줄기가 영유아→학령기→전환기→성인기를 표현.
• **방향 B — 연결 고리 (Link)** ○──○──○──○   Recordare ↑  ↑  ↑  ↑   레코다레 기관간 기록 연결을 시각화한 심플 아이콘.
• 원의 크기가 성장함을 표현.
• **방향 C — R 이니셜 + 하트** ℝ             Recordare 레코다레 라틴어 어원(마음에 새기다)에서 착안, R 자 안에 심장(cor) 형태를 내포.
• **권장**: 방향 A (잎 타임라인) — 생애주기 시각화, 성장 은유, 자연적 따뜻함이 브랜드 가치와 가장 일치.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브랜드 아이덴티티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154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6. 시각적 아이덴티티 방향 · 6.2 컬러 팔레트 방향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역할 / 컬러 방향 / 의미
• **Primary** / 딥 그린 계열 `#2D6A4F` 방향 / 성장·자연·신뢰·지속성
• **Secondary** / 웜 크림 `#F5F0E8` 방향 / 따뜻함·안정·기록지 연상
• **Accent** / 소프트 코랄 `#E07A5F` 방향 / 희망·당사자 중심·생동감
• **Alert** / 앰버 `#F2A93B` 방향 / 권한 만료 알림·주의
• **Text** / 차콜 `#2D2D2D` / 가독성·진중함
• **색각 이상 대응**: Primary-Secondary 조합은 색맹 시뮬레이션 통과 필수 (WCAG 2.1 AA 대비율 4.5:1 이상).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브랜드 아이덴티티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155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6. 시각적 아이덴티티 방향 · 6.3 타이포그래피 방향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용도 / 한글 서체 방향 / 영문 서체 방향
• 헤드라인 / 프리텐다드 Bold / 나눔스퀘어 ExtraBold / Cormorant Garamond (품격·라틴 어원 반영)
• 본문 / 프리텐다드 Regular / Inter Regular
• AAC 모드 / 나눔고딕 ExtraBold (큰글씨) / —
• 법적 고지 / 프리텐다드 Light / Inter Light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브랜드 아이덴티티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156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6. 시각적 아이덴티티 방향 · 6.4 이미지·일러스트 방향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**따뜻한 일러스트 스타일** (사진보다 일러스트 우선) — 실제 장애인 사진 사용 시 당사자 동의 및 존엄 훼손 방지
• **라인아트 + 파스텔 채색** — 기록지·노트 감성 연계
• **생애주기 타임라인 시각화** — 씨앗→새싹→꽃→나무 성장 은유
• **픽토그램 우선** — AAC 기반 UI 일관성 유지
• ---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브랜드 아이덴티티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157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7. 사용자 유형별 브랜드 경험 · 7.1 당사자 (Person with Intellectual Disability)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브랜드 경험 키워드: 존중, 쉬움, 내 것 슬로건 노출:       "내 이야기는 계속됩니다" UI 원칙:           큰 픽토그램, 음성 안내, Yes/No 2선택 컬러:              Accent(코랄) 중심 — 생동감과 친근함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브랜드 아이덴티티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158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7. 사용자 유형별 브랜드 경험 · 7.2 보호자 (Caregiver)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브랜드 경험 키워드: 안심, 준비, 이어짐 슬로건 노출:       "기록은 끊기지 않고, 권한은 당사자에게 자란다" 메인 카피:         "30년을 바인더에 담아온 노력이, 이제 클릭 하나로 전달됩니다." UI 원칙:           진행률 시각화, 법적 안전성 강조 배지 컬러:              Primary(딥 그린) + Secondary(크림) — 신뢰와 안정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브랜드 아이덴티티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159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7. 사용자 유형별 브랜드 경험 · 7.3 현장 전문가 (활동지원사·특수교사·사회복지사)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브랜드 경험 키워드: 효율, 전문성, 인정 슬로건 노출:       "기록은 이어지고, 돌봄은 함께" 메인 카피:         "오늘 선생님이 적은 한 줄이, 10년 후 새로운 선생님의 첫 인사가 됩니다." UI 원칙:           음성 일지 버튼 최전면, 빠른 접근 최우선 컬러:              Primary(딥 그린) — 전문성과 신뢰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브랜드 아이덴티티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160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7. 사용자 유형별 브랜드 경험 · 7.4 시설장·기관 (B2B)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브랜드 경험 키워드: 컴플라이언스, 효율, 신뢰 슬로건 노출:       "당신의 삶, 단 하나의 기억으로" 서브 카피:         "ISMS-P 인증 기반, 개인정보보호법 완전 대응 플랫폼" UI 원칙:           KPI 대시보드, 권한 일괄 관리, 감사 로그 컬러:              차콜 + Primary — 전문성과 신중함 ---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브랜드 아이덴티티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161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8. 랜딩 페이지 카피 구성안 · Hero 섹션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[영문 브랜드명] Recordare [메인 슬로건] 당신의 삶, 단 하나의 기억으로 [히어로 서브카피] 지적장애인 당사자의 기록이 기관을 넘어 이어지고, 그 기억이 스스로의 권리로 자랍니다. [CTA 버튼] 무료로 시작하기  |  기관 도입 문의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브랜드 아이덴티티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162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8. 랜딩 페이지 카피 구성안 · Problem 섹션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[섹션 제목] 매번 처음부터, 더 이상 안 됩니다 [페인포인트 3개] 1. "학교가 바뀔 때마다 30페이지 인계서를 새로 씁니다." 2. "퇴근 후 30분, 오늘도 일지를 씁니다." 3. "성인이 됐는데도, 모든 서류에 엄마 서명이 필요합니다."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브랜드 아이덴티티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163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8. 랜딩 페이지 카피 구성안 · Solution 섹션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[섹션 제목] Recordare가 기억합니다 [기능 4개 카드] 1.
• 끊기지 않는 타임라인 — "영유아부터 지금까지, 단 하나의 흐름으로" 2.
• AI 음성 일지 — "말하면 기록됩니다.
• 10초면 충분합니다." 3.
• 3분 인계서 — "학교를 졸업하는 그날, 새 선생님은 이미 알고 있습니다." 4.
• 권한 이행 — "아이가 어른이 되는 순간, 기억도 함께 자랍니다.".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브랜드 아이덴티티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164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8. 랜딩 페이지 카피 구성안 · Impact 섹션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[섹션 제목] 숫자로 보는 변화 26.2만 명  국내 등록 발달장애인 2주 → 3분  인계서 전달 시간 30분 → 1분  일일 일지 작성 시간 0% → 60%  당사자 직접 동의율 (3년 목표)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브랜드 아이덴티티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165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8. 랜딩 페이지 카피 구성안 · CTA 섹션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[보호자용] "지금 바로 시작하세요. 첫 기억은 무료입니다." → [무료 가입하기] [기관용] "우리 기관에 맞는 플랜을 상담해 드립니다." → [기관 도입 문의] ---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브랜드 아이덴티티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166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9. 브랜드 적용 체크리스트 · 출시 전 필수 확인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[ ] 로고 컬러/흑백/역전 3종 버전 제작
• [ ] 브랜드 컬러 색각 이상 시뮬레이션 통과 확인
• [ ] 메인 슬로건 상표 출원 검토 (특허청)
• [ ] "Recordare" 도메인 등록 (`recordare.kr`, `recordare.io`)
• [ ] AAC 모드 쉬운 말 카피 발달장애인 당사자 검수
• [ ] 모든 카피 "장애우" 등 부적절 표현 필터링 완료
• [ ] 법적 고지 문구 법무 자문 확인 (개인정보, 후견제도)
• [ ] 영문 브랜드명 발음 가이드 내부 공유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브랜드 아이덴티티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167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9. 브랜드 적용 체크리스트 · 운영 중 유지 기준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[ ] 모든 신규 카피는 브랜드 보이스 가이드(§5.2) 기준 검수
• [ ] 당사자 관련 이미지 사용 시 동의 확인
• [ ] B2B 제안서에 "당신의 삶, 단 하나의 기억으로" 메인 슬로건 표기
• [ ] SNS 채널에서 금지 표현(§5.3) 모니터링
• ---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브랜드 아이덴티티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168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10. 다음 단계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순서 / 작업 / 담당 / 일정
• 1 / 로고 시안 제작 (방향 A 기준 3안) / 브랜드 디자이너 / M1
• 2 / 컬러 팔레트 확정 및 디자인 시스템 토큰화 / UI 디자이너 / M1
• 3 / 랜딩 페이지 카피라이팅 본문 완성 / 카피라이터/PM / M2
• 4 / AAC 모드 쉬운 말 카피 당사자 검수 / 사용성 테스터 / M2
• 5 / 상표 출원 (브랜드명·슬로건) / 법무 자문 / M2
• 6 / 브랜드 가이드라인 최종본 배포 / PM / M3
• 다음 개발 단계: /pdca plan Recordare → 이 BI 가이드가 Plan 문서 및 디자인 시스템에 자동 반영됩니다.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1B4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6000" cy="6858000"/>
          </a:xfrm>
          <a:prstGeom prst="rect">
            <a:avLst/>
          </a:prstGeom>
          <a:solidFill>
            <a:srgbClr val="E07A5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1080000"/>
            <a:ext cx="10080000" cy="144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15000"/>
              </a:lnSpc>
            </a:pPr>
            <a:r>
              <a:rPr sz="4600" b="1">
                <a:solidFill>
                  <a:srgbClr val="FFFFFF"/>
                </a:solidFill>
                <a:latin typeface="Malgun Gothic"/>
              </a:rPr>
              <a:t>워크플로우 정의 핵심 내용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2520000"/>
            <a:ext cx="10080000" cy="90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>
                <a:solidFill>
                  <a:srgbClr val="F5F0E8"/>
                </a:solidFill>
                <a:latin typeface="Malgun Gothic"/>
              </a:rPr>
              <a:t>recordare-workflows.md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워크플로우 정의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169 / 254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워크플로우 정의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170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E.1 다자녀 가구 분기 (Service Planner Important #3)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보호자(U2)가 2명+ 자녀 등록 시의 각 단위업무 분기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워크플로우 정의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171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E.1 다자녀 가구 분기 (Service Planner Important #3) · B7 권한 부여 — 다자녀 분기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[1] 권한 위임 진입 → [2] 대상 자녀 선택 (다자녀 시 의무) ★ 신규 (단일 자녀: 자동 선택 / 다자녀: 드롭다운 + 5색 라벨) ↓ [3] 활동지원사 초대 → [4] 범위 설정 → [5] 자녀 동의 (15세+) ↓ 동의 후 [6] 자녀별 권한 카드 발행 (다른 자녀 데이터 접근 차단)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워크플로우 정의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172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E.1 다자녀 가구 분기 (Service Planner Important #3) · B10 인계서 — 다자녀 일괄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모드 / 사용자 행동 / 결과
• 단일 자녀 / 자동 선택 / 1건 PDF
• 다자녀 — 개별 / 자녀 선택 + 1건 발행 / 1건 PDF
• 다자녀 — 일괄 / "전체 자녀 일괄" 체크 / N건 PDF + ZIP 묶음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워크플로우 정의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173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E.1 다자녀 가구 분기 (Service Planner Important #3) · B6 타임라인 조회 — 자녀 전환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`/parent/timeline` 진입 시 `defaultChildId` 우선 표시
• 상단 자녀 전환 드롭다운 (5색 띠 시각 구분)
• 타임라인은 자녀별 완전 분리 (다른 자녀 데이터 노출 0)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워크플로우 정의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174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E.2 보호자 ↔ 후견인 충돌 시나리오 (Service Planner Important #4)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자녀 18세 이양 진행 중 부모 사망·심신 미약 → 후견인 등록 시점·우선순위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워크플로우 정의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175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E.2 보호자 ↔ 후견인 충돌 시나리오 (Service Planner Important #4) · 시나리오 매트릭스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상황 / 보호자 상태 / 후견인 상태 / 권한 우선순위
• 정상 진행 (D-180~D-0) / 활성 / 미등록 / 보호자 단독
• 보호자 사망 (이양 중) / 사망 / 등록 진행 / 30일 grace period (시스템 알림) → 후견인 권한 활성
• 보호자 심신 미약 / 의료 진단 등록 / 등록 진행 / 동시 활성 → 후견인 의료·재산 우선 / 보호자 일상 우선
• 부모-자녀 갈등 (자녀 15세+) / 활성 / 미등록 / 자녀 거부 시 보류 → 사회복지사(U4) 자문 자동 연결 ★ 신규
• 미성년 자녀 의사 부정 / 활성 / 미등록 / 변호사 자문 필요 (D-10 D-14, PRD §18 신규 자문)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워크플로우 정의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176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E.2 보호자 ↔ 후견인 충돌 시나리오 (Service Planner Important #4) · B7 권한 부여 시 후견 분기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보호자 권한 위임 시도 ↓ [자녀 후견 결정문 확인] (FR-59 등록 여부 자동 조회) ├─ 후견 모드 미활성 (일반): 보호자 → 자녀 동의 → 활성화 └─ 후견 모드 활성: 후견 유형 (한정/특정/성년) → 추가 분기 ├─ 한정후견: 의료·재산만 후견인 동의 필요 ├─ 특정후견: 특정 사안만 후견인 동의 └─ 성년후견: 모든 권한에 후견인 동의 우선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워크플로우 정의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177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E.3 활동지원사 다중 시설 근무 (Service Planner Important #5)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U3 이수진이 푸른그룹홈 + 다른 시설 동시 근무하는 경우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워크플로우 정의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178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E.3 활동지원사 다중 시설 근무 (Service Planner Important #5) · 시나리오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이수진이 푸른그룹홈(시설장 정원장) + ○○복지관(다른 시설장) 동시 권한 보유.
• 푸른그룹홈: 박지훈·최영진·윤서연 3명 담당 (시설장 정원장 발급)
• ○○복지관: 김다은 1명 담당 (○○복지관장 발급)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워크플로우 정의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179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E.3 활동지원사 다중 시설 근무 (Service Planner Important #5) · 권한 분리 정책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정책 / 적용
• 자격증 1개 → 다중 시설 권한 동시 보유 가능 / 시설 간 권한 격리
• 시설별 일지·인계서 완전 분리 / 시설 A 데이터가 시설 B에 노출 X
• 시설장 일괄 갱신 (B8) / 자기 시설 권한만 갱신, 타 시설 영향 X
• 자격증 만료 시 모든 시설 권한 일괄 회수 / 자격증 갱신 D-30 다채널 알림
• 활동지원사 본인 화면에 시설 전환 토글 / 위쪽 헤더 우상단 (다중 시설 보유 시만)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워크플로우 정의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180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E.4 알림 매트릭스 ↔ B13 정합성 보강 (Service Planner Important #8)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PRD §9.1 알림 매트릭스의 모든 트리거를 B13에 명시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워크플로우 정의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181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E.4 알림 매트릭스 ↔ B13 정합성 보강 (Service Planner Important #8) · B13.5 알림 트리거 매핑 (PRD §9.1과 일치)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990000"/>
            <a:ext cx="11472119" cy="3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algun Gothic"/>
              </a:rPr>
              <a:t>B13.5 알림 트리거 매핑 (PRD §9.1과 일치) (계속 1/2)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1800000"/>
            <a:ext cx="540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2D2D2D"/>
                </a:solidFill>
                <a:latin typeface="Malgun Gothic"/>
              </a:rPr>
              <a:t>• 트리거 이벤트 / 알림 유형 / 발사 시점 / 수신자 / FR
• 권한 만료 D-30 / 권한 만료 D-30 / D-30 00:00 / 시설장+보호자 / FR-35
• 권한 만료 D-7 / 권한 만료 D-7 / D-7 00:00 / + 해당 전문가 / FR-35
• 권한 만료 D-1 / 권한 만료 D-1 / D-1 00:00 (긴급) / 전체 다채널 / FR-35
• 인계서 발행 / 인계서 수신 / 즉시 / 신규 기관 + 보호자 / FR-13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0000" y="1800000"/>
            <a:ext cx="540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2D2D2D"/>
                </a:solidFill>
                <a:latin typeface="Malgun Gothic"/>
              </a:rPr>
              <a:t>• 인계서 확인 / 인계서 확인 / 즉시 / 보호자 / FR-14
• 새 일지 작성 / 신규 일지 / 일 1회 다이제스트 / 보호자 (옵션) / FR-37
• 당사자 동의 / 당사자 동의 행사 / 5분 내 즉시 / 보호자 / FR-19
• **이상 접근 탐지** / 이상 접근 / 즉시 (긴급) / 보호자+관리자 / FR-14 + Audit
• 마이그레이션 완료 / 마이그레이션 완료 / 1회 / 보호자 / FR-26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워크플로우 정의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182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E.4 알림 매트릭스 ↔ B13 정합성 보강 (Service Planner Important #8) · B13.5 알림 트리거 매핑 (PRD §9.1과 일치)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990000"/>
            <a:ext cx="11472119" cy="3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algun Gothic"/>
              </a:rPr>
              <a:t>B13.5 알림 트리거 매핑 (PRD §9.1과 일치) (계속 2/2)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결제 예고 / 결제 7일 전 / 자동 / 시설장 / FR-55
• **자가진단 이상치** / AI 추이 알림 / 3회+ 데이터 누적 후 / 보호자 / FR-67
• **케이스 회의 자료 요청** / 보호자 검토 요청 / 즉시 (24h 카운트) / 보호자 / FR-53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워크플로우 정의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183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E.4 알림 매트릭스 ↔ B13 정합성 보강 (Service Planner Important #8) · B13.6 이상 접근 탐지 알림 (FR-14)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트리거: 활동지원사가 100건 이상의 일지를 5분 안에 일괄 조회 시도 ↓ [Audit Log] 비정상 패턴 자동 분류 (TC-06) ↓ [알림 발사] ├─ 보호자: 즉시 푸시 + SMS (다채널) "이상 접근 감지 — 즉시 확인 요청" ├─ 시설장: 푸시 + 이메일 "직원 이상 행동 감지" └─ 활동지원사: 자동 잠금 + "비정상 접근으로 일시 차단됨" ---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워크플로우 정의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184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D.6 v1.3 변경 이력 (2026-05-25)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E.1 다자녀 가구 분기 (B7·B10·B6) — Service Planner Important #3
• E.2 보호자↔후견인 충돌 시나리오 + 권한 우선순위 매트릭스 — #4
• E.3 활동지원사 다중 시설 근무 분리 정책 — #5
• E.4 알림 매트릭스 ↔ B13 정합성 보강 (12개 트리거 매핑) — #8
• PRD 동기화: v2.2 → **v2.3** (시장 워크시트·경쟁 분석·데이터 거주성·Risk #12)
• --- ---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워크플로우 정의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185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B21 보호자 자조 모임 워크플로우 (v1.5 신규, FR-74~83)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상세 Plan: `docs/01-plan/features/parent-self-help-group.plan.md` v1.0
• UX 화면: `recordare-ux-structure.md` v1.4 §B.7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워크플로우 정의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186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B21 보호자 자조 모임 워크플로우 (v1.5 신규, FR-74~83) · B21.1 온보딩 완료 → 자조 모임 자동 연결 (FR-74, FR-82)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[Actor] 신규 보호자 (U2) [Trigger] 온보딩 7단계 완료 [Step] 1.
• 시스템이 자녀 생애주기 계산 (자녀 생년월일 기준) 2.
• 해당 생애주기 자동 매칭 그룹 조회 3.
• 온보딩 완료 화면에 "학령기 보호자 247명이 함께하고 있어요" CTA 노출 4.
• 보호자가 CTA 탭 → 자조 모임 홈(/parent/community) 이동 5.
• 자동 매칭 그룹 가입 처리 (알림 동의 시) [Output] 보호자가 자동 매칭 그룹에 가입, 자조 모임 홈 진입 [FR-trace] FR-74 (자동 매칭), FR-82 (온보딩 CTA), FR-25 (온보딩 7단계).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워크플로우 정의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187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B21 보호자 자조 모임 워크플로우 (v1.5 신규, FR-74~83) · B21.2 게시판 글 작성 및 댓글 (FR-76)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[Actor] 보호자 (U2) [Trigger] 그룹 상세 화면 우하단 [✏️ 글 쓰기] FAB 탭 [Step] 1.
• 글 작성 화면 진입 (텍스트 + 사진 최대 5장) 2.
• 보호자 닉네임 자동 표시 (실명·자녀 이름 비노출 — FR-83) 3.
• 글 저장 → 그룹 멤버 전원에게 "새 글이 등록됐어요" 알림 (일 1회 다이제스트) 4.
• 다른 보호자가 댓글 작성 → 원작성자에게 즉시 푸시 [Output] 게시판 글 1건 등록, 댓글 수신 [FR-trace] FR-76 (게시판), FR-83 (데이터 분리), FR-36 (다채널 알림) [예외] 자녀 기록 데이터 연동 시도 → 시스템 차단 + 안내 메시지.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워크플로우 정의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188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B21 보호자 자조 모임 워크플로우 (v1.5 신규, FR-74~83) · B21.3 온라인/오프라인 모임 개설 및 RSVP (FR-77, FR-78)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[Actor] 보호자 (U2, 그룹 관리자 또는 일반 멤버) [Trigger] 그룹 상세 "모임 일정" 탭 → [모임 만들기] [Step] 1. 모임 유형 선택 (온라인/오프라인)
• 온라인: 참여 링크(Zoom·Meet 등) 직접 입력
• 오프라인: 장소 + 지도 선택
• 2. 날짜·시간·인원 제한·신청 방식(선착순/승인제) 입력 3. 2단계 확인 → 모임 등록 4. 그룹 멤버 전원에게 "새 모임이 등록됐어요" 푸시 알림 5. 참여 신청: 보호자가 [참여 신청] 탭
• 선착순: 즉시 확정 + 확정 알림
• 승인제: 개설자에게 "신청 알림" → 개설자 승인 → 확정 알림
• 6. 확정 참여자에게 D-1 / 당일 1시간 전 리마인더 (FR-79) [Output] 모임 1건 등록, RSVP 참여자 확정 [FR-trace] FR-77 (모임 등록), FR-78 (RSVP), FR-79 (알림), FR-80 (관리자)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워크플로우 정의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189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B21 보호자 자조 모임 워크플로우 (v1.5 신규, FR-74~83) · B21.4 부적절 콘텐츠 신고 (FR-81)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[Actor] 보호자 (U2) [Trigger] 게시물·댓글·모임 우상단 ..
• → "신고" [Step] 1.
• 신고 사유 선택 (스팸·욕설·개인정보노출·기타) 2.
• 신고 접수 즉시: 해당 콘텐츠 임시 블라인드 처리 3.
• 운영팀에게 신고 알림 (Slack webhook 또는 이메일) 4.
• 운영팀 검토 → 복원 또는 영구 삭제 [Output] 콘텐츠 임시 블라인드, 운영팀 알림 [FR-trace] FR-81 (신고), FR-80 (관리자 권한과 연계).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워크플로우 정의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190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B21 보호자 자조 모임 워크플로우 (v1.5 신규, FR-74~83) · B21.5 권한 매트릭스 보충 (자조 모임 전용, 보호자 한정)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990000"/>
            <a:ext cx="11472119" cy="3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algun Gothic"/>
              </a:rPr>
              <a:t>B21.5 권한 매트릭스 보충 (자조 모임 전용, 보호자 한정) (계속 1/2)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1800000"/>
            <a:ext cx="540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2D2D2D"/>
                </a:solidFill>
                <a:latin typeface="Malgun Gothic"/>
              </a:rPr>
              <a:t>• 단위업무 / U2 보호자 (일반) / U2 보호자 (그룹 관리자) / 비고
• 자조 모임 홈 접근 / ✅ / ✅ / 인증 보호자만
• 그룹 자동 매칭 가입 / ✅ / ✅ / 온보딩 시
• 자유 그룹 탐색·가입 / ✅ / ✅
• 자유 그룹 개설 / ✅ / ✅ / 개설자 → 자동 관리자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0000" y="1800000"/>
            <a:ext cx="540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2D2D2D"/>
                </a:solidFill>
                <a:latin typeface="Malgun Gothic"/>
              </a:rPr>
              <a:t>• 게시판 글·댓글 작성 / ✅ / ✅
• 모임 일정 등록 / ✅ / ✅
• RSVP 신청·취소 / ✅ / ✅
• 게시물·댓글 삭제 (타인) / ❌ / ✅ / 관리자만
• 멤버 내보내기 / ❌ / ✅ / 관리자만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워크플로우 정의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191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B21 보호자 자조 모임 워크플로우 (v1.5 신규, FR-74~83) · B21.5 권한 매트릭스 보충 (자조 모임 전용, 보호자 한정)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990000"/>
            <a:ext cx="11472119" cy="3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555555"/>
                </a:solidFill>
                <a:latin typeface="Malgun Gothic"/>
              </a:rPr>
              <a:t>B21.5 권한 매트릭스 보충 (자조 모임 전용, 보호자 한정) (계속 2/2)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그룹 설정 수정 / ❌ / ✅ / 관리자만
• 자녀 기록 데이터 접근 / ❌ / ❌ / FR-83 절대 금지
• U1(당사자)·U3(활동지원사)·U4(교사/복지사)·U5(시설장)·U6(일반교사): 자조 모임 접근 **불가** (보호자 전용 공간)
• ---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워크플로우 정의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192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D.7 v1.4 변경 이력 — 리빙랩 #01 의사결정 (2026-05-25 22:00)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**STT 자체 통합 폐기** (회의 핵심 안건) — Whisper·Clova STT 외부 API 사용 안 함
• **B4 정의 변경**: "음성 일지" → "다중 입력 일지 (4종 모드)" (FR-69)
• **U6 일반교사 페르소나 신설** (윤교사) — 5종 → 6종
• **권한 매트릭스 5×20 → 6×20 (100 → 120셀)**
• PRD 동기화: v2.3 → **v2.4** (§21 다중 입력 + §3.7 U6 + FR-71 후견인 얼굴 인증)
• ---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워크플로우 정의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193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D.8 v1.5 변경 이력 — 보호자 자조 모임 추가 (2026-05-26)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540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2D2D2D"/>
                </a:solidFill>
                <a:latin typeface="Malgun Gothic"/>
              </a:rPr>
              <a:t>• **B21 보호자 자조 모임 워크플로우 신설** (FR-74~83)
• B21.1 온보딩 완료 → 자동 매칭 그룹 연결
• B21.2 게시판 글 작성·댓글
• B21.3 온라인/오프라인 모임 개설·RSVP
• B21.4 부적절 콘텐츠 신고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0000" y="1800000"/>
            <a:ext cx="540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2D2D2D"/>
                </a:solidFill>
                <a:latin typeface="Malgun Gothic"/>
              </a:rPr>
              <a:t>• B21.5 자조 모임 전용 권한 매트릭스 (보호자 한정)
• 단위업무 **20 → 21종** 갱신
• PRD 동기화: v2.4 → **v2.5** (§22 보호자 자조 모임 + FR-74~83)
• UX 동기화: v1.3 → **v1.4** (B.7 자조모임 화면 3종)
• --- **문서 종료 — v1.4 (리빙랩 #01 의사결정 반영)**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1B4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6000" cy="6858000"/>
          </a:xfrm>
          <a:prstGeom prst="rect">
            <a:avLst/>
          </a:prstGeom>
          <a:solidFill>
            <a:srgbClr val="E07A5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1080000"/>
            <a:ext cx="10080000" cy="144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15000"/>
              </a:lnSpc>
            </a:pPr>
            <a:r>
              <a:rPr sz="4600" b="1">
                <a:solidFill>
                  <a:srgbClr val="FFFFFF"/>
                </a:solidFill>
                <a:latin typeface="Malgun Gothic"/>
              </a:rPr>
              <a:t>UX 구조 핵심 내용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2520000"/>
            <a:ext cx="10080000" cy="90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>
                <a:solidFill>
                  <a:srgbClr val="F5F0E8"/>
                </a:solidFill>
                <a:latin typeface="Malgun Gothic"/>
              </a:rPr>
              <a:t>recordare-ux-structure.md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UX 구조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194 / 254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UX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195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B.1.5 다중 입력 모드 화면 4종 (v1.3 신규 — FR-69)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리빙랩 #01 핵심 안건 — STT 자체 통합 폐기 + 4종 입력 모드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UX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196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B.1.5 다중 입력 모드 화면 4종 (v1.3 신규 — FR-69) · B.1.5.1 입력 모드 선택 (`/parent/journal/new` 진입)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┌─────────────────────────────────────────────────────┐ │  ⚠️ 면책 배너                                         │ ├─────────────────────────────────────────────────────┤ │  새 일지 — 박지훈 · 12:30 · 점심                       │ ├─────────────────────────────────────────────────────┤ │  입력 방식 선택 (기본값 변경 가능)                     │ │                                                      │ │  ┌──────┐ ┌──────┐ ┌──────┐ ┌──────┐                │ │  │ ⚡    │ │ ✅    │ │ 📷    │ │ ⌨️    │                │ │  │ 빠른  │ │ 체크  │ │ 사진  │ │ 텍스트│                │ │  │ 선택  │ │ 리스트│ │ +태그 │ │      │                │ │  │ 15초  │ │ 5초   │ │ 30초  │ │ 1~2분│                │ │  └──────┘ └──────┘ └──────┘ └──────┘                │ │                                                      │ │  💡 환경별 추천:                                       │ │  - 시설 점심·교실 → ⚡ 빠른 선택                       │ │  - 일과 종료 자동 기록 → ✅ 체크리스트                 │ │  - 시각 증거 필요 → 📷 사진+태그                       │ │  - 사무실 회고 → ⌨️ 텍스트 (OS 키보드 음성 사용 가능)  │ └─────────────────────────────────────────────────────┘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UX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197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B.1.5 다중 입력 모드 화면 4종 (v1.3 신규 — FR-69) · B.1.5.2 빠른 선택 (`/parent/journal/quick`) ⭐ P0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┌─────────────────────────────────────────────────────┐ │  ⚡ 빠른 선택 — 박지훈 (12:30)                          │ ├─────────────────────────────────────────────────────┤ │  카테고리:                                            │ │  [ 🍚 식사 ✓ ][ 💊 투약 ][ 🏃 행동 ][ 💭 정서 ][ 📘 학습 ] │ │                                                      │ │  자주 사용 옵션 (식사):                               │ │  ┌──────────────┐ ┌──────────────┐                  │ │  │ 잘 드심       │ │ 다 드심       │                  │ │  └──────────────┘ └──────────────┘                  │ │  ┌──────────────┐ ┌──────────────┐                  │ │  │ 일부만 드심    │ │ 거부함        │                  │ │  └──────────────┘ └──────────────┘                  │ │                                                      │ │  메뉴 (선택): [김치찌개 ✓] [밥] [국] [반찬]            │ │                                                      │ │  특이사항 (선택, 짧은 텍스트):                        │ │  ┌─────────────────────────────────────┐            │ │  │                                     │            │ │  └─────────────────────────────────────┘            │ │                                                      │ │  [ 저장 (1탭) ] [ + 사진 ] [ + 메모 ] [ 이용자 보여주기 ]│ └─────────────────────────────────────────────────────┘
• 평균 작성 시간: **15초** (3 탭)
• 적합 환경: 시설 점심·교실·이용자 옆 (시끄러움 무관)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UX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198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B.1.5 다중 입력 모드 화면 4종 (v1.3 신규 — FR-69) · B.1.5.3 체크리스트 (`/parent/journal/checklist`) ⭐ P0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┌─────────────────────────────────────────────────────┐ │  ✅ 오늘 체크리스트 — 박지훈 (2026-05-25)               │ ├─────────────────────────────────────────────────────┤ │  📅 09:00-12:00 오전 활동                             │ │  ☑ 아침 인사  ☑ 화장실 자립  ☑ 옷 갈아입기            │ │  ☐ 머리 빗기  ☐ 양치질  ☑ 자유 활동                  │ │                                                      │ │  📅 12:00-13:00 점심                                  │ │  ☑ 식사 (식사 카테고리 → 빠른 선택 자동 연동)         │ │  ☐ 양치질                                             │ │                                                      │ │  📅 13:00-16:00 오후 활동                            │ │  ☐ 산책  ☐ 학습  ☐ 휴식                              │ │                                                      │ │  [ 저장 ] [ + 짧은 메모 ]                              │ │                                                      │ │  💡 일주일 패턴 학습 → 다음 주 자동 슬롯 생성          │ └─────────────────────────────────────────────────────┘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UX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199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B.1.5 다중 입력 모드 화면 4종 (v1.3 신규 — FR-69) · B.1.5.4 사진+태그 (`/parent/journal/photo` 강화) ⭐ P0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(기존 FR-06 강화 — JM1 Quick Tags 추가)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UX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200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B.1.5 다중 입력 모드 화면 4종 (v1.3 신규 — FR-69) · B.1.5.5 텍스트 입력 (`/parent/journal/text`, 보조)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OS 키보드 음성 입력 지원 안내 ("키보드 마이크 버튼 사용 가능")
• 자체 STT 통합 0 — Android·iOS 기본 받아쓰기 기능 의존
• 긴 메모·재택 회고용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UX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201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B.1.5 다중 입력 모드 화면 4종 (v1.3 신규 — FR-69) · B.1.5.6 핵심 UX 원칙 (v1.3 신규)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**모드 1탭 변경**: 작성 중에도 다른 모드로 즉시 전환 가능
• **UserPreferences 기본값**: 사용자별 기본 모드 저장 (D.1 확장)
• **STT 폐기 명시**: 음성 자체 통합 0, OS 음성 키보드는 ⌨️ 텍스트 입력 내에서 사용
• **이용자 확인 도장 (FR-69f)**: 모든 모드에서 "당사자에게 보여주기" 옵션 (15세+ AAC 화면 자동 연결)
• ---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UX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202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B.6 U6 일반교사 (통합학급) 대시보드 (v1.3 신규)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리빙랩 #01 YK1 (윤교사) 의견 — `/general-teacher`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UX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203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B.6 U6 일반교사 (통합학급) 대시보드 (v1.3 신규) · B.6.1 대시보드 (`/general-teacher`)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┌─────────────────────────────────────────────────────┐ │  [GNB] 일반교사 윤교사 · 통합학급 4학년 3반            │ ├─────────────────────────────────────────────────────┤ │  KPI 카드 3개:                                       │ │  ┌────────────┐ ┌────────────┐ ┌────────────┐      │ │  │ 통합 학생   │ │ 이번 주     │ │ 특수교사    │      │ │  │ 1명         │ │ 메모 3건    │ │ 마지막 회신│      │ │  │ 김민호 (10)│ │             │ │ 2일 전     │      │ │  └────────────┘ └────────────┘ └────────────┘      │ ├─────────────────────────────────────────────────────┤ │  담당 통합 학생 (1명):                                │ │  ┌────────────────────────────────────────────┐    │ │  │ 김민호 (10세, 발달장애 3급, AAC 부분 사용) │    │ │  │ 학급 분위기 영향: 긍정 60% / 부정 10%       │    │ │  │ [ + 짧은 메모 ] [ 🔍 최근 메모 ]            │    │ │  └────────────────────────────────────────────┘    │ ├─────────────────────────────────────────────────────┤ │  최근 짧은 메모 (3건):                               │ │  • "오늘 친구와 점심 함께 함" (어제) → 특수교사 공유 │ │  • "수업 중 자리 옮김 5회" (3일 전)                  │ │  • "체육 시간 적극 참여" (5일 전)                    │ └─────────────────────────────────────────────────────┘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UX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204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B.6 U6 일반교사 (통합학급) 대시보드 (v1.3 신규) · B.6.2 짧은 메모 (`/general-teacher/memo`)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┌─────────────────────────────────────────────────────┐ │  ✏️ 짧은 메모 — 김민호 (통합학급 4학년 3반)            │ ├─────────────────────────────────────────────────────┤ │  ⚠️ 권한 안내: 본 메모는 김민호님과 보호자·특수교사   │ │      한교사에게만 공유됩니다.
• 일반 학생 정보 보호.
• │ ├─────────────────────────────────────────────────────┤ │  카테고리 선택 (빠른 선택과 동일):                    │ │  [ 🏃 행동 ✓ ][ 💭 정서 ][ 📘 학습 ]                  │ │                                                      │ │  학급 컨텍스트 (선택, 일반 학생 식별 정보 X):         │ │  ☑ 또래 영향 긍정  ☐ 또래 영향 부정                  │ │  ☑ 수업 참여 적극  ☐ 자리 이탈                       │ │                                                      │ │  메모 (1줄, 30초 작성 목표):                          │ │  ┌─────────────────────────────────────┐            │ │  │ 오늘 친구와 점심 함께 함             │            │ │  └─────────────────────────────────────┘            │ │                                                      │ │  [ 저장 + 특수교사 공유 ] [ 저장만 (내부) ]           │ └─────────────────────────────────────────────────────┘.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UX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205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B.6 U6 일반교사 (통합학급) 대시보드 (v1.3 신규) · B.6.3 핵심 UX 원칙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**학급 컨텍스트 마스킹**: 일반 학생 정보 (이름·사진) 절대 노출 X
• **권한 안내 의무**: 메모 화면 상단에 공유 범위 항상 명시 (FR-72)
• **30초 메모**: 입력 모드는 빠른 선택과 동일한 UI 패턴 (FR-73)
• **특수교사 공유 옵션**: 일반교사 → 특수교사 → 회의자료 자동 연계 (선택)
• --- **문서 종료 — UX 구조 v1.3 (리빙랩 #01 의사결정 반영)**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1B4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6000" cy="6858000"/>
          </a:xfrm>
          <a:prstGeom prst="rect">
            <a:avLst/>
          </a:prstGeom>
          <a:solidFill>
            <a:srgbClr val="E07A5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1080000"/>
            <a:ext cx="10080000" cy="144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15000"/>
              </a:lnSpc>
            </a:pPr>
            <a:r>
              <a:rPr sz="4600" b="1">
                <a:solidFill>
                  <a:srgbClr val="FFFFFF"/>
                </a:solidFill>
                <a:latin typeface="Malgun Gothic"/>
              </a:rPr>
              <a:t>생애주기 &amp; 법적 근거 핵심 내용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2520000"/>
            <a:ext cx="10080000" cy="90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>
                <a:solidFill>
                  <a:srgbClr val="F5F0E8"/>
                </a:solidFill>
                <a:latin typeface="Malgun Gothic"/>
              </a:rPr>
              <a:t>recordare-lifecycle-recording-and-legal-screening.md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생애주기 &amp; 법적 근거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206 / 254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생애주기 &amp; 법적 근거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207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1. 생애주기별 기록 체계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생애주기 / 종류 / 카테고리 분류 / 작성/기록할 주요내용 / 주 작성자 / 설명
• 영유아기 0~6세 / 발달·건강 중심 / 기본정보, 건강검진, 발달선별, 치료·재활, 가족환경 / 출생/진단 이력, 영유아 건강검진, K-DST 결과, M-CHAT-R, 발달재활서비스 이용, 식사·수면·감각반응, 보호자 관찰 메모 / 보호자, 의료/발달재활 전문가 / "처음 발견과 조기지원" 단계. 자가진단은 진단이 아니라 보호자 관찰 기록으로 저장
• 학령기 7~14세 / 교육·생활 적응 중심 / 교육, IEP, 행동·정서, 또래관계, 돌봄일지 / 개별화교육계획, 학교생활 적응, 학습 지원, 문제행동 트리거, 감정 변화, 또래 상호작용, 특수교사/일반교사 메모 / 보호자, 특수교사, 일반교사, 활동지원사 / 학교·가정·치료기관 기록이 분산되기 쉬운 단계. U6 일반교사 짧은 메모 포함
• 전환기 15~24세 / 자립 준비·권한 이행 중심 / 자기결정, 진로·직업, 권한동의, 자립생활, 서비스 연계 / AIR-SDS 등 자기결정 체크, 직업평가, 진로희망, 활동지원 계획, 18세 권한 이양 동의, AAC Yes/No 선택 이력, 보호자-당사자 공동결정 기록 / 당사자, 보호자, 교사, 사회복지사 / 보호자 중심 기록에서 당사자 참여 기록으로 전환.
• Recordare의 핵심 차별 구간.
• 성인기 25~64세 / 생활·고용·서비스 이용 중심 / 주거, 고용, 건강, 서비스, 권한관리, 인계 / 취업처 적응, 주거생활, 활동지원 계약, 투약·건강관리, 기관 인계서, 서비스 이용 이력, 접근권한 부여/회수, 후견 여부 / 당사자, 보호자/후견인, 활동지원사, 사회복지사, 시설장 / 당사자 정보주권을 원칙으로 하되 후견·대리권 예외를 명확히 기록
• 고령기 65세+ / 건강·돌봄 연속성 중심 / 의료, 장기돌봄, 인지·신체 변화, 후견, 가족지원 / 만성질환, 낙상/응급 이력, 인지변화, 복약, 돌봄계획, 장기요양 연계, 후견·대리 의사결정 로그 / 당사자, 보호자/후견인, 의료·돌봄기관, 사회복지사 / 생애 말기까지 기록 단절을 막고, 의료·돌봄 인계 품질을 높이는 단계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생애주기 &amp; 법적 근거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208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2. 공통 기록 카테고리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540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2D2D2D"/>
                </a:solidFill>
                <a:latin typeface="Malgun Gothic"/>
              </a:rPr>
              <a:t>• 대분류 / 세부 카테고리 / 기록 예시 / 작성자
• 기본 프로필 / 인적사항, 장애등록, 가족관계, 소속기관 / 생년월일, 장애유형, 보호자, 학교/시설 / 보호자, 시설장
• 건강·의료 / 검진, 진료, 투약, 알레르기, 응급 / 복약시간, 알레르기, 발작/응급 대응 / 보호자, 의료진, 활동지원사
• 발달·자가진단 / K-DST, M-CHAT-R, AIR-SDS, 적응행동 / 점수, 추이, 보호자 관찰 의견 / 보호자, 당사자, 전문가
• 교육·학습 / IEP, 학습목표, 수업참여, 일반교사 메모 / 학기 목표, 수업 중 자리이탈, 또래 상호작용 / 특수교사, 일반교사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0000" y="1800000"/>
            <a:ext cx="540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2D2D2D"/>
                </a:solidFill>
                <a:latin typeface="Malgun Gothic"/>
              </a:rPr>
              <a:t>• 일상·돌봄 / 식사, 수면, 위생, 이동, 활동 / "점심 다 드심", "양치 도움 필요" / 활동지원사, 보호자
• 행동·정서 / 트리거, 안정방법, 감정 변화 / 소음 민감, 선호 대화, 불안 완화법 / 활동지원사, 교사, 보호자
• 자립·직업 / 직업훈련, 주거, 금전관리, 이동훈련 / 출근 적응, 대중교통 이용, 자기결정 / 사회복지사, 직업재활 담당자
• 권한·동의 / 접근권한, 동의, 회수, 후견 / 누구에게 어떤 기록을 언제까지 공개했는지 / 당사자, 보호자, 후견인, 시설장
• 인계·회의 / 3분 인계서, 케이스 회의, PDF 공유 / 신규 기관 전달용 요약, 회의자료 / 보호자, 사회복지사, 시설장
• 감사·보안 / 접근로그, 이상접근, 다운로드 / 누가 언제 어떤 기록을 조회했는지 / 시스템 자동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생애주기 &amp; 법적 근거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209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3. 생애주기별 자가진단표·법적/공식 자료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540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2D2D2D"/>
                </a:solidFill>
                <a:latin typeface="Malgun Gothic"/>
              </a:rPr>
              <a:t>• 생애주기 / 권장 자가진단/평가표 / 법적·공식 근거/자료 / Recordare 적용 방식
• 영유아기 / K-DST 한국 영유아 발달선별검사 / 질병관리청 국가건강정보포털은 영유아 건강검진이 생후 14일~71개월까지 8회 제공되며, 발달평가 및 상담에 K-DST가 사용된다고 안내한다.
• 국민건강보험공단 자료도 K-DST가 보건복지부 개발 도구라고 설명한다.
• / MVP P0.
• 보호자 응답, 결과 PDF, 타임라인 자동 등록.
• "의료 진단 아님" 고지 필수.
• 영유아기 / M-CHAT-R 자폐 선별 체크 / 국내 법정 검진표라기보다 국제적으로 쓰이는 자폐 선별도구. 의료적 판단은 전문의 상담 필요 / MVP P0. 16~30개월 보호자 관찰 체크로 사용. 고위험 표현 주의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0000" y="1800000"/>
            <a:ext cx="540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2D2D2D"/>
                </a:solidFill>
                <a:latin typeface="Malgun Gothic"/>
              </a:rPr>
              <a:t>• 영유아~아동 / 발달재활서비스 관련 기록 / 장애아동 복지지원법 제21조는 인지, 의사소통, 적응행동, 감각·운동 기능향상과 행동발달을 위한 발달재활서비스 지원 근거를 둔다. / 발달재활 이용 이력, 기관, 목표, 회기별 변화 기록
• 학령기 / IEP/개별화교육계획 / 장애인 등에 대한 특수교육법 제22조는 특수교육대상자의 교육적 요구에 적합한 교육 제공을 위한 개별화교육 근거다. / 학기별 목표, 지원내용, 일반교사 메모, 특수교사 기록 연결
• 전환기 / AIR-SDS 자기결정능력 체크 / 국내 "법정 자가진단표"는 아님. 다만 발달장애인법은 발달장애인의 의사를 최대한 존중하고 생애주기별 특성·복지욕구에 맞는 지원을 목적으로 한다. / 14세+ 자기결정 추이 기록. 18세 권한 이양 가이드와 연동
• 성인기 / 자립생활/적응행동 평가 K-SIB-R, VABS-3 등 / 법정 무료 자가진단표라기보다 전문 평가도구 성격. 저작권·실시자격 확인 필요 / 플랫폼 내부에서는 "관찰 체크리스트" 또는 전문가 결과 첨부 형태 권장
• 성인기·고령기 / 후견·의사결정 지원 기록 / 민법 제9조, 제12조, 제14조의2는 성년후견·한정후견·특정후견의 근거가 된다. / 후견 결정문, 권한 범위, 본인 의견 청취 로그, 후견인 얼굴 인증
• 전 생애 / 민감정보 처리 동의 / 개인정보보호법 제23조는 건강 등 민감정보 처리를 제한하고, 별도 동의 또는 법령상 근거 및 안전조치를 요구한다. / 자가진단·건강·장애정보는 별도 동의, 암호화, 접근 로그 필수
• 전 생애 / 의료법 안전 고지 / 의료법 제27조 관련 판례는 비의료인의 의료행위를 엄격히 제한한다. / 모든 자가진단 결과에 "보호자 관찰 의견 / 정식 진단은 전문의 상담" 표기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생애주기 &amp; 법적 근거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210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4. 제품 설계상 주의사항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540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2D2D2D"/>
                </a:solidFill>
                <a:latin typeface="Malgun Gothic"/>
              </a:rPr>
              <a:t>• Recordare 안의 "자가진단표"는 진단서가 아니라 관찰 기록·선별·추이 관리 도구로 설계해야 한다. 권장 표현:
• 보호자 관찰 체크
• 발달 선별 기록
• 자기결정 체크
• 발달 변화 추이
• 전문가 상담 참고자료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0000" y="1800000"/>
            <a:ext cx="540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2D2D2D"/>
                </a:solidFill>
                <a:latin typeface="Malgun Gothic"/>
              </a:rPr>
              <a:t>• 피해야 할 표현:
• 진단됨
• 치료 필요
• 자폐 의심 확정
• 지적장애 판정
• 의료적 결론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생애주기 &amp; 법적 근거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211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5. 확인한 외부 자료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540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2D2D2D"/>
                </a:solidFill>
                <a:latin typeface="Malgun Gothic"/>
              </a:rPr>
              <a:t>• 질병관리청 국가건강정보포털, "우리 아이 성장 로드맵, 영유아 건강검진으로 완성하세요!"
• https://health.kdca.go.kr/healthinfo/biz/health/ntcnInfo/healthSourc/thtimtCntnts/thtimtCntntsView.do?thtimt_cntnts_sn=131
• 국민건강보험공단 건강iN 매거진, 영유아 발달선별검사(K-DST) 안내
• https://www.nhis.or.kr/magazin/mobile/201504/sub02.html
• 국가법령정보센터, 개인정보 보호법 제23조 민감정보의 처리 제한
• https://www.law.go.kr/lsLinkCommonInfo.do?chrClsCd=010202&amp;lsJoLnkSeq=1027416043
• 국가법령정보센터, 장애아동 복지지원법 제21조 발달재활서비스지원
• https://law.go.kr/lsLinkCommonInfo.do?chrClsCd=010202&amp;lsJoLnkSeq=1022341443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0000" y="1800000"/>
            <a:ext cx="540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2D2D2D"/>
                </a:solidFill>
                <a:latin typeface="Malgun Gothic"/>
              </a:rPr>
              <a:t>• 국가법령정보센터/법제처 자료, 발달장애인 권리보장 및 지원에 관한 법률
• https://www.yeslaw.com/lims/front/page/fulltext.html?pAct=view&amp;pPromulgationNo=201817
• 국가법령정보센터, 민법 제9조 등 성년후견 관련 자료
• https://www.law.go.kr/detcInfoP.do?detcSeq=154581&amp;mode=1
• 국가법령정보센터, 의료법 제27조 관련 판례
• https://www.law.go.kr/LSW/precInfoP.do?mode=0&amp;precSeq=197927
• 장애인 등에 대한 특수교육법 제22조 개별화교육 관련 법제처 자료
• https://caesec.cncae.go.kr/files/tmp/817392001740559941.pdf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1B4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6000" cy="6858000"/>
          </a:xfrm>
          <a:prstGeom prst="rect">
            <a:avLst/>
          </a:prstGeom>
          <a:solidFill>
            <a:srgbClr val="E07A5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1080000"/>
            <a:ext cx="10080000" cy="144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15000"/>
              </a:lnSpc>
            </a:pPr>
            <a:r>
              <a:rPr sz="4600" b="1">
                <a:solidFill>
                  <a:srgbClr val="FFFFFF"/>
                </a:solidFill>
                <a:latin typeface="Malgun Gothic"/>
              </a:rPr>
              <a:t>로고 컨셉 핵심 내용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2520000"/>
            <a:ext cx="10080000" cy="90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>
                <a:solidFill>
                  <a:srgbClr val="F5F0E8"/>
                </a:solidFill>
                <a:latin typeface="Malgun Gothic"/>
              </a:rPr>
              <a:t>recordare-logo-concepts.md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로고 컨셉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212 / 254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로고 컨셉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213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공통 설계 원칙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1.
• 단순성 (Simplicity)     16px 아이콘에서도 식별 가능한 심플한 형태 2.
• 확장성 (Scalability)    앱 아이콘 → 현수막까지 품질 손실 없이 적용 3.
• 접근성 (Accessibility)  색각 이상자도 형태만으로 인식 가능한 구조 4.
• 온기 (Warmth)           딱딱하지 않은 곡선 위주, 사람 중심 감성 5.
• 생애주기 은유           성장·이어짐·흐름 중 하나를 형태에 내포 ---.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로고 컨셉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214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Direction A — 잎맥 타임라인 (Leaf Vein Timeline) · 컨셉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나뭇잎 안의 잎맥 구조로 생애주기 타임라인을 표현. 중심 줄기(당사자의 삶)에서 가지(기관·기록·이해관계자)가 뻗어나오는 형태. 잎 전체는 성장과 자립의 완성을 상징.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로고 컨셉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215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Direction A — 잎맥 타임라인 (Leaf Vein Timeline) · 스케치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· /|\ / | \ /  |  \ /   |   \ ·    |    · /|    |    |\ / |    |    | \ ·  ·    |    ·  · \   |   / \  |  / \ | / \|/ · ╔═══════════════════╗ ║   Recordare        ║ ║   레코다레          ║ ╚═══════════════════╝ **가로형 조합** ┌─────┐ │ ╱│╲ │   Recordare │╱ │ ╲│   레코다레 └─────┘ [잎맥]    [워드마크] **앱 아이콘형 (1:1)** ╭───────╮ │  ·/·  │ │ /│╲   │ │╱ │ ╲  │ │  ·    │ ╰───────╯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로고 컨셉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216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Direction A — 잎맥 타임라인 (Leaf Vein Timeline) · 컬러 적용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요소 / 컬러 / 비고
• 잎 외곽선 / 딥 그린 `#2D6A4F` / Primary
• 중심 줄기 / 딥 그린 `#2D6A4F` / Primary
• 측면 가지 / 소프트 코랄 `#E07A5F` / Accent — 당사자 강조
• 워드마크 / 차콜 `#2D2D2D` / 기본 / 흰 배경 위
• **색각 이상 대응**: 잎맥 굵기 차이로 중심-가지 구분 (색 없이도 인식)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로고 컨셉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217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Direction A — 잎맥 타임라인 (Leaf Vein Timeline) · 변형 버전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[단색 버전]         [역전 버전]          [축약 아이콘] 딥 그린 단색        흰 배경 → 딥 그린     R 안에 잎맥 모노크롬 가능        배경 → 잎맥 흰색      16px 대응용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로고 컨셉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218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Direction A — 잎맥 타임라인 (Leaf Vein Timeline) · 강점 / 약점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강점 / 약점
• 생애주기 은유가 직관적 / 소형(16px)에서 잎맥 디테일 손실 가능
• 자연·성장·따뜻함 동시 표현 / 환경 브랜드로 오해 가능성
• 컬러 포인트 적용 유연 / 경쟁 유사 로고 사전 조사 필요
• 로고타입 없이도 독립 사용 가능
• ---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로고 컨셉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219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Direction B — 연결 고리 성장 (Growing Links) · 컨셉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크기가 점점 커지는 원(○) 4개가 선으로 이어진 형태. 좌→우로 갈수록 원이 커지며 성장을 표현. 각 원은 생애주기 단계(영유아→학령기→전환기→성인기)를 상징. 원들을 잇는 선은 기록의 연속성을 표현.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로고 컨셉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220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Direction B — 연결 고리 성장 (Growing Links) · 스케치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○──○──○──○ ↑  ↑  ↑  ↑ 영  학  전  성 유  령  환  인 아  기  기  기 (원의 크기가 좌→우로 점점 커짐) **비율 스케치** ·─·──·───·────· ↑ (각 원: 지름 8 : 12 : 18 : 26 비율) **가로형 조합** · ─ · ─ · ─ ·    Recordare 레코다레 **앱 아이콘형 (1:1)** ╭───────────╮ │  ·─·─·─● │ │          │ ╰───────────╯ (마지막 원을 가장 크게 강조)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로고 컨셉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221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Direction B — 연결 고리 성장 (Growing Links) · 컬러 적용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요소 / 컬러 / 비고
• 첫 원 (영유아기) / 크림 `#F5F0E8` + 그린 테두리 / 시작·보호
• 중간 원 2개 / 그린 그라데이션 / 성장
• 마지막 원 (성인기) / 딥 그린 `#2D6A4F` 채움 / 자립 완성
• 연결선 / 딥 그린 `#2D6A4F`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로고 컨셉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222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Direction B — 연결 고리 성장 (Growing Links) · 강점 / 약점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강점 / 약점
• 성장·연속성 직관적 / 단순해서 기억에 오래 남지 않을 수 있음
• 소형에서도 형태 유지 / 생애주기 4단계 설명이 필요할 수 있음
• 기술 플랫폼 감성 표현 / 일반 IT 서비스 로고와 유사 가능성
• 색각 이상에도 형태로 인식
• ---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로고 컨셉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223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Direction C — R 이니셜 + 심장 (Cor) · 컨셉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Recordare 어원 "re + cor(심장·마음)"에서 착안. 이니셜 'R' 자 내부에 하트(♥) 또는 심장 형태를 내포. "마음에 새기다"는 의미를 시각적으로 표현. 클래식하고 품격 있는 느낌으로 B2G·사회적기업 포지셔닝에 유리.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로고 컨셉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224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Direction C — R 이니셜 + 심장 (Cor) · 스케치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**버전 C-1: R 내부 하트** ┌───────────────┐ │  ██╗          │ │  ██╔══██╗     │ │  █████╔╝♥     │ │  ██╔═██╗      │ │  ██║  ██╗     │ │  ╚═╝  ╚═╝     │ └───────────────┘ R의 오른쪽 곡선 부분에 하트 형태 내포 **버전 C-2: 심장 박동선 + R** ╭──────────────────╮ │  R ∿∿♥∿∿         │ │  (EKG 심전도 라인) │ ╰──────────────────╯ R 옆에 심장 박동선(EKG) 연결 — "살아있는 기억" **버전 C-3: R 자 하단 곡선 변형** ██╗ ██╔══╗ █████╣    ← 상단 곡선을 하트 형태로 ██╔═██╗ ██║  ╚♡   ← 하단 꼬리를 하트로 마무리 ╚═╝ **가로형 조합** [R♥]   Recordare 레코다레 **앱 아이콘형 (1:1)** ╭───────╮ │       │ │  R♥   │ │       │ ╰───────╯ 딥 그린 배경 + 크림 R♥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로고 컨셉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225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Direction C — R 이니셜 + 심장 (Cor) · 컬러 적용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요소 / 컬러 / 비고
• R 자 / 딥 그린 `#2D6A4F`
• 하트/심장 / 소프트 코랄 `#E07A5F` / 감성·당사자 강조
• 배경 / 크림 `#F5F0E8` 또는 투명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로고 컨셉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226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Direction C — R 이니셜 + 심장 (Cor) · 강점 / 약점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강점 / 약점
• 브랜드명 어원과 완전 일치 / 하트 남용으로 진부해 보일 위험
• 이니셜 로고로 응용 범위 넓음 / R 단독 사용 시 브랜드 인식 낮음
• B2G·임팩트 투자 피칭에 품격 / 복잡한 표현은 소형에서 깨질 수 있음
• 워드마크 없이도 브랜드 인식 가능 (장기)
• ---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로고 컨셉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227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Direction D — 나선형 타임라인 (Spiral Timeline) · 컨셉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중심에서 바깥으로 펼쳐지는 나선 (spiral) 형태. 나선의 시작점은 영유아기, 끝점은 성인기 자립. 나선이 열려있는(open-ended) 형태로 "계속되는 삶"을 표현. 동시에 기록이 쌓여 두터워지는 층위를 시각화.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로고 컨셉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228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Direction D — 나선형 타임라인 (Spiral Timeline) · 스케치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╭─────────╮ ╭╯  ╭────╮ ╰╮ ╭╯  ╭╯ ·  ╰╮ ╰╮ │  ╭╯      ╰╮  │ │  │  START  │  │ │  ╰╮      ╭╯  │ ╰╮  ╰╮    ╭╯  ╭╯ ╰╮  ╰────╯  ╭╯ ╰─────────→ · = 시작점 (영유아기) → = 열린 끝 (계속되는 자립) **단순화 버전 (실제 로고용)** ╭──╮ ╭╯  │ ╭╯ · │    Recordare │    ╰→   레코다레 ╰──╮ ╰→ (2회전 나선 + 열린 화살표) **앱 아이콘형** ╭───────╮ │  ╭─╮  │ │ ╭╯ │  │ │ │· ╰→ │ │ ╰──╮  │ ╰────╯──╯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로고 컨셉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229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Direction D — 나선형 타임라인 (Spiral Timeline) · 컬러 적용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요소 / 컬러 / 비고
• 나선 시작 (내부) / 소프트 코랄 `#E07A5F` / 영유아기·보호
• 나선 중간 / 그라데이션 전환 / 성장 과정
• 나선 끝 (외부 화살표) / 딥 그린 `#2D6A4F` / 자립·완성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로고 컨셉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230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Direction D — 나선형 타임라인 (Spiral Timeline) · 강점 / 약점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강점 / 약점
• "끊기지 않는 기록"을 가장 강력하게 표현 / 복잡도 높아 소형에서 인식 어려움
• 생애주기의 흐름과 성장이 동시에 / 디자이너 역량에 따라 품질 편차 큼
• 독창성 높음, 유사 로고 가능성 낮음 / 단색 버전에서 형태 단순화 필요
• 그라데이션 활용으로 시각적 풍부함
• ---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로고 컨셉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231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Direction E — 기억의 실 (Thread of Memory) · 컨셉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여러 사람(당사자·보호자·교사·지원사)을 하나의 실로 연결하는 형태. 실의 가운데 매듭은 당사자를 중심에 놓는 철학을 표현. 실(Thread)은 동시에 기록의 흐름·연속성을 상징. 따뜻하고 수공예적인 감성으로 커뮤니티 플랫폼 느낌.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로고 컨셉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232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Direction E — 기억의 실 (Thread of Memory) · 스케치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·           · \         / \       / ·─────·      ← 매듭 (당사자 중심) /       \ /         \ ·           · 각 끝점 = 이해관계자 (보호자/교사/지원사/기관) 매듭    = 당사자 (모든 기록의 중심) 실      = 연결된 기록 **세련된 버전** ╮     ╭ ╲   ╱ ╲ ╱ ╳      Recordare ╱ ╲     레코다레 ╱   ╲ ╯     ╰ (X 형태의 교차점이 당사자, 4방향 실이 이해관계자) **앱 아이콘형** ╭───────╮ │·     ·│ │ ╲   ╱ │ │  ╲ ╱  │ │   ●   │    ← 중심점(당사자) 강조 │  ╱ ╲  │ │ ╱   ╲ │ │·     ·│ ╰───────╯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로고 컨셉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233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Direction E — 기억의 실 (Thread of Memory) · 컬러 적용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요소 / 컬러 / 비고
• 실 (연결선) / 딥 그린 `#2D6A4F`
• 중심 매듭 (당사자) / 소프트 코랄 `#E07A5F` / 당사자 중심성 강조
• 끝점 (이해관계자) / 딥 그린 `#2D6A4F` 작은 원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로고 컨셉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234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Direction E — 기억의 실 (Thread of Memory) · 강점 / 약점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강점 / 약점
• 당사자 중심 철학을 형태로 직접 표현 / 공예·섬유 브랜드로 오해 가능
• 커뮤니티·연결·따뜻함 동시 표현 / 권위·신뢰 표현이 약할 수 있음
• 색각 이상에도 형태로 완전 인식 / B2G 피칭에서 전문성 부족해 보일 수 있음
• 소형에서도 선명한 X 형태 유지
• ---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로고 컨셉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235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종합 비교표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방향 / 핵심 은유 / 브랜드 적합성 / 소형 대응 / 독창성 / 추천 포지셔닝
• **A. 잎맥 타임라인** / 성장·생애주기 / ★★★★★ / ★★★ / ★★★★ / B2C + B2B 균형
• **B. 연결 고리** / 연속성·성장 / ★★★★ / ★★★★★ / ★★★ / B2B + 기술 강조
• **C. R + 심장** / 어원·감성 / ★★★★ / ★★★★ / ★★★★ / B2G + 임팩트 투자
• **D. 나선형** / 끊기지 않는 기록 / ★★★★★ / ★★ / ★★★★★ / 브랜드 캠페인·대형
• **E. 기억의 실** / 연결·공동체 / ★★★★ / ★★★★ / ★★★ / B2C + 커뮤니티
• ---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로고 컨셉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236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디자이너 전달 브리프 · 필수 산출물 (디렉션별)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각 방향별: □ 심볼 단독 (투명 배경, SVG) □ 가로형 조합 (심볼 + 워드마크, SVG + PNG) □ 세로형 조합 (심볼 위 + 워드마크 아래, SVG + PNG) □ 앱 아이콘 (1:1, 1024×1024 PNG) □ 파비콘 (32×32, 16×16 ICO) □ 단색 버전 (흑백, SVG) □ 역전 버전 (딥 그린 배경 + 크림/흰 심볼, SVG)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로고 컨셉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237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디자이너 전달 브리프 · 금지 사항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✗ 지나치게 복잡한 그라데이션 (인쇄 시 품질 저하) ✗ 얇은 선 1px 이하 (소형에서 사라짐) ✗ 텍스트 아웃라인 미처리 (폰트 미설치 환경 오류) ✗ 심볼과 워드마크 비율 임의 변경 ✗ 승인되지 않은 컬러 사용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로고 컨셉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238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디자이너 전달 브리프 · 크기 기준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용도 / 최소 크기 / 형태
• 앱 아이콘 / 44×44px / 심볼 단독
• 파비콘 / 16×16px / 심볼 단독 (극단순화)
• 명함 / 25mm 폭 이상 / 가로형 조합
• 현수막 / 제한 없음 / 가로형 또는 세로형
• OG 이미지 / 1200×630px / 가로형 + 슬로건
• ---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로고 컨셉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239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최종 선정 권고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1순위: Direction A (잎맥 타임라인) → 생애주기·성장·따뜻함이 브랜드 철학과 가장 일치 → B2C/B2B 모두 적용 가능한 범용성 → 컬러 포인트 유연 적용 가능 2순위: Direction C (R + 심장) → 브랜드명 어원과 완전 일치, 장기 브랜드 자산화 유리 → B2G·임팩트 투자 피칭에 강점 보조 활용: Direction D (나선형) → 풀페이지 랜딩 히어로 배경, 캠페인 이미지 등 대형 비주얼에 활용 → 단독 로고보다는 브랜드 모티프로 사용 권장 ---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로고 컨셉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240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다음 단계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1. 디자이너에게 이 브리프 전달 2. 방향 A·C 우선 시안 2~3안씩 제작 요청 3. 내부 검토 → 당사자·보호자 5인 이상 사용성 인터뷰 (인식률 테스트) 4. 최종 확정 → 상표 출원 (특허청 45류 소프트웨어) 5. Figma 디자인 토큰에 브랜드 컬러·타이포 등록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1B4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6000" cy="6858000"/>
          </a:xfrm>
          <a:prstGeom prst="rect">
            <a:avLst/>
          </a:prstGeom>
          <a:solidFill>
            <a:srgbClr val="E07A5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1080000"/>
            <a:ext cx="10080000" cy="144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15000"/>
              </a:lnSpc>
            </a:pPr>
            <a:r>
              <a:rPr sz="4600" b="1">
                <a:solidFill>
                  <a:srgbClr val="FFFFFF"/>
                </a:solidFill>
                <a:latin typeface="Malgun Gothic"/>
              </a:rPr>
              <a:t>BI 제안 핵심 내용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2520000"/>
            <a:ext cx="10080000" cy="90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>
                <a:solidFill>
                  <a:srgbClr val="F5F0E8"/>
                </a:solidFill>
                <a:latin typeface="Malgun Gothic"/>
              </a:rPr>
              <a:t>recordare-bi-proposal.md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BI 제안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241 / 254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BI 제안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242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01. WithCare (위드케어)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**네이밍 의미** "함께(With) + 돌봄(Care)" — 당사자를 중심으로 보호자·전문가·기관이 하나의 돌봄 공동체를 이루는 플랫폼. 현재 GitHub 레포지토리명(`withcare`)이기도 하여 기술적 아이덴티티와 일치. **슬로건**
• "기록은 이어지고, 돌봄은 함께"
• **카피**
• 오늘 선생님이 적은 한 줄이, 10년 후 새로운 선생님의 첫 인사가 됩니다.
• ---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BI 제안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243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02. Recordare (레코다레)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**네이밍 의미** "함께(With) + 기록(Record)" — 파편화된 이해관계자들의 기록을 하나로 모아 당사자의 평생 자산으로 만든다는 핵심 기능을 직접 표현. 현재 제품명. **슬로건**
• "기록은 끊기지 않고, 권한은 당사자에게 자란다"
• **카피**
• 30년을 바인더에 담아온 부모님의 노력이, 이제 클릭 하나로 전달됩니다.
• ---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BI 제안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244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03. 이음 (IEUM)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**네이밍 의미** 순우리말 "잇다"의 명사형. 기관 간 단절된 기록을 '잇고', 보호자에서 당사자로 권한을 '잇고', 과거와 미래를 '잇는다'는 3중 연결 의미. 발음이 짧고 기억하기 쉬움. **슬로건**
• "끊어지지 않는 삶의 기록"
• **카피**
• 학교가 바뀌어도, 선생님이 바뀌어도. 당신의 이야기는 처음부터 다시 시작하지 않아도 됩니다.
• ---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BI 제안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245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04. 자람 (JARAM)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**네이밍 의미** 순우리말 "자라다"의 명사형. 지적장애인 당사자가 단순 보호 대상이 아닌 스스로 성장하고 권한을 키워나가는 존재임을 상징. 플랫폼이 그 '자람'을 기록하고 지원한다. **슬로건**
• "오늘의 기록이, 내일의 자립이 됩니다"
• **카피**
• 아이가 어른이 되는 모든 순간을, 우리는 함께 기억합니다.
• ---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BI 제안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246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05. Recordare (레코다레)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**네이밍 의미** 라틴어로 "기억하다, 회상하다(to remember)"의 뜻. '기록(Record)'이 내포되어 영어권에서도 직관적. 단순 저장이 아닌 "살아있는 기억"으로서의 기록 철학을 담음. B2G·사회적기업 포지셔닝에 품격 부여. **슬로건**
• "당신의 삶, 단 하나의 기억으로"
• **카피**
• 카카오톡 사진 1만 장 속에 흩어진 우리 아이의 이야기. 이제 하나의 흐름으로 기억됩니다.
• ---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BI 제안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247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06. 리프 (LEAF)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**네이밍 의미** Lifelong Evidence of Autonomy &amp; Freedom의 약자이자, 나뭇잎(Leaf) 이미지 — 작은 씨앗(당사자)이 시간이 지나며 잎을 피워내는 성장의 은유. 로고로 생애주기별 잎의 성장 시각화 가능. **슬로건**
• "작은 기록이 쌓여, 스스로 서는 힘이 됩니다"
• **카피**
• 오늘 음성으로 남긴 10초가, 10년 후 자립의 증거가 됩니다.
• ---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BI 제안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248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07. 케어패스 (CarePath)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**네이밍 의미** "돌봄(Care) + 경로(Path)" — 지적장애인의 생애 경로(영유아→학령기→전환기→성인기→고령기)를 케어 전문가들과 함께 걸어간다는 여정의 메타포. 경로(Path)는 데이터 파이프라인의 기술적 의미도 내포. **슬로건**
• "당신의 길, 처음부터 끝까지 함께"
• **카피**
• 어느 기관에 가더라도, 어느 선생님을 만나더라도. 당신의 길은 이미 이어져 있습니다.
• ---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BI 제안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249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08. 우리기록 (OuriGirok)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**네이밍 의미** "우리 + 기록" — 당사자 혼자가 아닌 보호자·전문가·기관이 '우리'가 되어 함께 만들어가는 기록임을 표현. "우리(Ouri)"는 영어권에서도 한국적 집단 정체성(collective identity)으로 통용됨. B2C 온기 (warmth) 포지셔닝. **슬로건**
• "혼자가 아닌, 우리의 기록으로"
• **카피**
• 선생님이, 부모님이, 지원사 선생님이 함께 써내려간 이야기. 그것이 바로 당신입니다.
• ---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BI 제안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250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09. 다음 (DAEUM)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**네이밍 의미** 순우리말 "다음"의 이중 의미 — ① 다음 단계로의 이행(전환기, 자립), ② "담다(to hold/contain)"의 변형으로 기록을 담는 그릇. 미래 지향적이면서도 디지털 플랫폼의 저장 기능과 연결. **슬로건**
• "다음 단계로 나아갈 준비, 기록이 함께합니다"
• **카피**
• 학교를 졸업하는 그날, 새 선생님은 이미 당신을 알고 있습니다.
• ---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BI 제안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251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10. Growith (그로이드)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**네이밍 의미** "Grow(성장) + With(함께)"의 합성어. 당사자의 성장을 함께 기록하고 지원한다는 의미를 간결하게 표현. 글로벌 확장 가능성(영문 네이밍), 스타트업 감성과 임팩트 투자 유치에 유리. **슬로건**
• "함께 자라는 기록, 함께 커지는 권리"
• **카피**
• 오늘의 '못 한 것'이 내일의 '할 수 있는 것'이 됩니다. 그 여정을 우리가 기억합니다.
• ---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2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BI 제안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252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비교 요약표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540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2D2D2D"/>
                </a:solidFill>
                <a:latin typeface="Malgun Gothic"/>
              </a:rPr>
              <a:t>• # / 네이밍 / 언어 감성 / 포지셔닝 / 글로벌 확장성 / 핵심 강조
• 01 / **WithCare** / 따뜻함 / B2C/B2B / ★★★★ / 돌봄 공동체
• 02 / **Recordare** / 기능적 / B2B/B2G / ★★★★ / 기록 자산화
• 03 / **이음** / 정서적 / B2C / ★★ / 연결·이어짐
• 04 / **자람** / 희망적 / B2C / ★★ / 성장·자립
• 05 / **Recordare** / 품격있음 / B2G/임팩트 / ★★★★★ / 살아있는 기억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0000" y="1800000"/>
            <a:ext cx="540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2D2D2D"/>
                </a:solidFill>
                <a:latin typeface="Malgun Gothic"/>
              </a:rPr>
              <a:t>• 06 / **리프(LEAF)** / 자연적 / B2C/투자 / ★★★★ / 성장의 증거
• 07 / **케어패스** / 여정적 / B2B/B2G / ★★★ / 생애 경로
• 08 / **우리기록** / 공동체적 / B2C / ★★ / 집단적 돌봄
• 09 / **다음** / 미래지향 / B2C / ★★ / 이행·전환
• 10 / **Growith** / 스타트업 / 투자·글로벌 / ★★★★★ / 함께 성장
• ---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2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BI 제안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253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선택 가이드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목표 / 추천 네이밍 / 이유
• 국내 B2C 감성 최우선 / **이음** 또는 **자람** / 순우리말, 직관적, 정서적 공감
• 기술·돌봄 동시 표현 / **WithCare** / 레포 이름 일치, 영문·한글 모두 자연스러움
• 정부 R&amp;D / 사회적기업 / **Recordare** 또는 **케어패스** / 기능 명확, 공식 문서 포지셔닝
• 임팩트 투자 유치 / **Growith** 또는 **Recordare** / 영문 네이밍, 글로벌 피칭 가능
• 로고 시각화 용이 / **리프(LEAF)** / 생애주기 잎 성장 이미지 직관적
• ---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slides/slide2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125999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162000"/>
            <a:ext cx="7920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2D6A4F"/>
                </a:solidFill>
                <a:latin typeface="Malgun Gothic"/>
              </a:rPr>
              <a:t>BI 제안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2119" y="162000"/>
            <a:ext cx="1152000" cy="216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1000" b="0">
                <a:solidFill>
                  <a:srgbClr val="555555"/>
                </a:solidFill>
                <a:latin typeface="Malgun Gothic"/>
              </a:rPr>
              <a:t>254 / 254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32000"/>
            <a:ext cx="11472119" cy="468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>
                <a:solidFill>
                  <a:srgbClr val="1B4D37"/>
                </a:solidFill>
                <a:latin typeface="Malgun Gothic"/>
              </a:rPr>
              <a:t>다음 단계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00000"/>
            <a:ext cx="720000" cy="432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1800000"/>
            <a:ext cx="10980000" cy="3960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2D2D2D"/>
                </a:solidFill>
                <a:latin typeface="Malgun Gothic"/>
              </a:rPr>
              <a:t>• 네이밍 확정 후 아래 작업을 이어갈 수 있습니다: 1. **BI 가이드라인** — 컬러 팔레트, 타이포그래피, 로고 컨셉 방향 2. **톤앤매너 문서** — 사용자 유형별 커뮤니케이션 스타일 3. **랜딩 페이지 카피라이팅** — UX 구성안 기반 섹션별 본문 작성 4. **앱 내 UX 라이팅** — AAC 모드 쉬운 말 가이드 포함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6001"/>
            <a:ext cx="12192119" cy="14400"/>
          </a:xfrm>
          <a:prstGeom prst="rect">
            <a:avLst/>
          </a:prstGeom>
          <a:solidFill>
            <a:srgbClr val="DDD5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6642000"/>
            <a:ext cx="720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>
                <a:solidFill>
                  <a:srgbClr val="555555"/>
                </a:solidFill>
                <a:latin typeface="Malgun Gothic"/>
              </a:rPr>
              <a:t>Recordare · 레코다레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2119" y="6642000"/>
            <a:ext cx="5040000" cy="144000"/>
          </a:xfrm>
          <a:prstGeom prst="rect">
            <a:avLst/>
          </a:prstGeom>
          <a:noFill/>
        </p:spPr>
        <p:txBody>
          <a:bodyPr wrap="square" anchor="t" lIns="18000" rIns="18000" tIns="18000" bIns="1800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55555"/>
                </a:solidFill>
                <a:latin typeface="Malgun Gothic"/>
              </a:rPr>
              <a:t>UX &amp; Workflow Review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